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600432" cy="6858000"/>
  <p:notesSz cx="6858000" cy="1260043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종이로 치르던 사내 자격 필기시험을 프로그램으로 옮겼습니다. 무엇이 달라졌는지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가지가 다 사람 손을 거쳤습니다. 그중에서도 마지막 줄, 만료일을 놓치는 것이 가장 마음에 걸렸습니다.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개만 기억하셔도 됩니다. 뒤에서 하나씩 화면으로 보여 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응시자가 보는 것은 이 화면 하나입니다. 설명이 필요 없게 만드는 데 시간을 많이 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보기가 두세 개뿐이던 86문항도 모두 넷으로 맞췄습니다. 찍어서 맞힐 확률이 종목마다 다르면 안 되니까요.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시험을 치르는 그 화면에서 그대로 펼쳐집니다. 종이 절차서를 들고 다닐 일이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자격 시험에서 채점이 한 번 어긋나면 되돌리기가 어렵습니다. 그 자리를 아예 없앴습니다.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화면에 보이는 이름은 예시입니다.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예전에는 이 판정을 사람이 표를 보며 했습니다. 지금은 이 화면 하나가 대신합니다.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무엇이 빠졌는지를 적어 보여 줍니다. 사람이 착각해서 합격시킬 일이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만드는 동안 가장 마음에 걸렸던 것이 이 만료일이었습니다. 여기서 놓치면 되돌릴 방법이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표는 우리 필기시험 시행 규칙 5.1.5 의 것을 그대로 옮긴 것입니다. 「종목마다 따로」와 「원본 확인」이 실무에서 놓치기 쉬운 두 가지입니다.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10점 차이는 사람이 보면 놓치기 쉽습니다. 면제받은 사람인 줄 모르고 70%로 보면 그대로 잘못 합격시킵니다.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이런 것이 한참 지나 감사에서 나오면 곤란합니다. 그때그때 잡아 두는 편이 낫습니다.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 때 뒤질 것 없이 바로 뽑아 냅니다. 기록은 퇴사 뒤 5년까지 남겨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서식은 사람이 손으로 채우는 것이지만, 양식을 찾아 헤맬 일은 없앴습니다. 면제 칸의 근거는 E01 7.3.5 와 7.3.7 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종이로 치르면 남은 시험지를 폐기한 기록도 함께 뽑아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7월 13일에 빈 폴더에서 시작했습니다. 중간에 두 번 통째로 갈아엎었고, 그 판들이 아직 보관 폴더에 남아 있습니다. 8월 12일 판으로 이미 시험을 칠 수 있었습니다.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 온 것이 아니라 우리 규정에 맞춰 지은 것입니다. 그래서 규정이 바뀌면 남에게 맡기지 않고 우리가 고칠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그림은 실제로 제가 보던 화면입니다. 지금 열려 있는 파일이 종목마다 몇 문항을 낼지 정해 둔 자리입니다.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시계는 규정에 있는데 화면에 없던 것입니다. 규정을 한 줄씩 읽지 않았으면 못 찾았을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제가 없어도 다음 사람이 이어받을 수 있게 두는 것이 마지막까지 신경 쓴 부분입니다.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문제은행이 원본보다 앞서 있습니다. 원본을 고칠 때 이 은행을 근거로 쓰시면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규정이 바뀌면 이 표를 보고 그 자리만 고치면 됩니다. 프로그램 전체를 뒤질 일이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44개를 한 줄씩 원문과 맞대어 봤습니다. 그러다 어긋난 곳 셋을 찾았습니다 — 뒤에서 보여 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규정을 먼저 읽은 것이 가장 큰 차이였습니다. TOFD·PAUT 문항 수가 어긋난 것도 그때 찾았습니다.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규정 수와 은행 수가 같으면 뽑을 것이 없어 같은 문제가 나갑니다. 그래서 넉넉히 채웠습니다.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문제가 새어 나갈 걱정을 덜었습니다. 앞사람 시험지를 봐도 소용이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규정이 바뀌면 이 대조표를 보고 그 자리를 찾아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방금 돌린 결과입니다. 꾸며 낸 화면이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가운데 셋은 손대지 않아도 굴러갑니다.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번째는 고객 감사에서 지적될 수 있는 것이었습니다. 옮기지 않았으면 몰랐습니다.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검토 모드가 지금 켜져 있습니다. 시험 전에 한 줄만 바꾸면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한 문장만 남겨 드리고 싶습니다.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시간이 넉넉하면 이어서, 짧으면 여기서 마치고 질문 받으시면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무료라는 것이 가장 컸습니다. 결재를 올리고 기다렸으면 3주 안에 못 끝냈을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도구 137개가 tools 에 있습니다. 이게 이 일에서 가장 손이 많이 간 곳입니다.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자판까지 적어 두었으니 관심 있는 분은 따라 해 보셔도 됩니다. VS Code 는 무료로 내려받아 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그물이 촘촘할수록 겁내지 않고 고칠 수 있습니다. 되돌릴 수 있다는 것이 가장 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" y="118872"/>
            <a:ext cx="12399264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800"/>
              </a:lnSpc>
              <a:buNone/>
            </a:pPr>
            <a:r>
              <a:rPr lang="en-US" sz="5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NDT 자격 필기시험</a:t>
            </a:r>
            <a:endParaRPr lang="en-US" sz="5400" dirty="0"/>
          </a:p>
          <a:p>
            <a:pPr algn="ctr" indent="0" marL="0">
              <a:lnSpc>
                <a:spcPts val="6800"/>
              </a:lnSpc>
              <a:buNone/>
            </a:pPr>
            <a:r>
              <a:rPr lang="en-US" sz="5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CBT 구축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48056" y="5760720"/>
            <a:ext cx="5751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Made by ○○○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2026.12.__.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예전에는 이랬다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시험을 한 번 치르고 나면, 늘 같은 일이 되풀이됐습니다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10896" cy="31089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57276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한글을 열어 시험지부터 만듭니다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57276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회차가 바뀌면 또 처음부터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286000"/>
            <a:ext cx="310896" cy="31089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3113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뽑아서 응시자 수만큼 복사합니다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231136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시험지는 대장에 적어 폐기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944368"/>
            <a:ext cx="310896" cy="31089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288950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정답지를 옆에 놓고 한 장씩 맞춰 봅니다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288950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눈으로 하는 일이라 틀릴 수 있습니다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602736"/>
            <a:ext cx="310896" cy="31089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3602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54787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점수를 세어 성적표에 옮겨 적습니다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354787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평균은 계산기를 두드려서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420624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파일철에 꽂아 둡니다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420624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찾으려면 한 장씩 넘겨야 합니다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4919472"/>
            <a:ext cx="310896" cy="31089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6928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486460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만료일은 달력에 적어 두고 챙깁니다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680960" y="486460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놓치면 자격 없이 검사한 셈이 됩니다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5623560"/>
            <a:ext cx="11475720" cy="658368"/>
          </a:xfrm>
          <a:prstGeom prst="rect">
            <a:avLst/>
          </a:prstGeom>
          <a:solidFill>
            <a:srgbClr val="FFF2F2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6235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게다가 은행에 든 문항 수가 규정이 정한 출제 수와 꼭 같아서, 회차가 바뀌어도 같은 문제가 그대로 나갔습니다.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이걸 만들었다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 3주 동안 만들었습니다. 사 온 것도, 달마다 나가는 돈도 없습니다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56920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828800"/>
            <a:ext cx="3294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1,369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670048"/>
            <a:ext cx="3294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3035808"/>
            <a:ext cx="3294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시험지 49벌을 다 옮기고,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40문항 시험에 60문항을 채웠습니다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0184" y="1572768"/>
            <a:ext cx="356920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7344" y="1828800"/>
            <a:ext cx="3294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4,200조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4657344" y="2670048"/>
            <a:ext cx="3294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 시험지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57344" y="3035808"/>
            <a:ext cx="3294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60문항에서 40개를 뽑는 가짓수.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앞사람 시험지를 봐도 소용없습니다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73440" y="1572768"/>
            <a:ext cx="356920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10600" y="1828800"/>
            <a:ext cx="3294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8610600" y="2670048"/>
            <a:ext cx="3294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조항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610600" y="3035808"/>
            <a:ext cx="3294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수 · 합격선 · 면제 · 재시험 ·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· 기록 보존까지 다 옮겼습니다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014216"/>
            <a:ext cx="356920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" y="4270248"/>
            <a:ext cx="3294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" y="5111496"/>
            <a:ext cx="3294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 자동 검사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" y="5477256"/>
            <a:ext cx="3294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 · 보기 섞기 · 날짜 · 규정 대조 …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때마다 명령 한 줄로 다 돕니다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20184" y="4014216"/>
            <a:ext cx="356920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57344" y="4270248"/>
            <a:ext cx="3294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20만</a:t>
            </a:r>
            <a:endParaRPr lang="en-US" sz="4600" dirty="0"/>
          </a:p>
        </p:txBody>
      </p:sp>
      <p:sp>
        <p:nvSpPr>
          <p:cNvPr id="22" name="Text 20"/>
          <p:cNvSpPr txBox="1"/>
          <p:nvPr/>
        </p:nvSpPr>
        <p:spPr>
          <a:xfrm>
            <a:off x="4657344" y="5111496"/>
            <a:ext cx="3294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657344" y="5477256"/>
            <a:ext cx="3294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 동안 고친 양입니다.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줄씩 직접 짰습니다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473440" y="4014216"/>
            <a:ext cx="356920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10600" y="4270248"/>
            <a:ext cx="3294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4600" dirty="0"/>
          </a:p>
        </p:txBody>
      </p:sp>
      <p:sp>
        <p:nvSpPr>
          <p:cNvPr id="26" name="Text 24"/>
          <p:cNvSpPr txBox="1"/>
          <p:nvPr/>
        </p:nvSpPr>
        <p:spPr>
          <a:xfrm>
            <a:off x="8610600" y="5111496"/>
            <a:ext cx="3294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610600" y="5477256"/>
            <a:ext cx="3294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서버를 사지 않았습니다.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달마다 나가는 돈이 없습니다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309360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옮기는 동안, 우리 규정과 어긋나 있던 곳 셋을 찾아 바로잡았습니다.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응시자 화면 ①  시작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따로 깔 것이 없습니다. 인터넷 창만 열면 바로 시험장이 됩니다</a:t>
            </a:r>
            <a:endParaRPr lang="en-US" sz="1900" dirty="0"/>
          </a:p>
        </p:txBody>
      </p:sp>
      <p:pic>
        <p:nvPicPr>
          <p:cNvPr id="4" name="Image 0" descr="docs\shots\01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481328"/>
            <a:ext cx="676656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81328"/>
            <a:ext cx="6766560" cy="429768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설치가 없다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20756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주소만 알면 어느 컴퓨터에서든 열립니다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635240" y="2743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로그인이 없다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31272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넣고 종목만 고르면 바로 시작합니다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3794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밖에서도 된다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41788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현장이든 출장지든 노트북만 있으면 됩니다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시험도 된다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52303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컴퓨터가 모자라면 시험지를 뽑아 종이로 칩니다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5897880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RT·UT·MT·PT·VT·ECT·RFT·TOFD·PAUT 아홉 종목의 일반시험과 전문시험, 그리고 Level Ⅲ 시험까지 다 들어 있습니다.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응시자 화면 ②  문제 풀기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원본이 영문이라 그대로 두고, 그 아래에 우리말을 나란히 붙였습니다</a:t>
            </a:r>
            <a:endParaRPr lang="en-US" sz="1900" dirty="0"/>
          </a:p>
        </p:txBody>
      </p:sp>
      <p:pic>
        <p:nvPicPr>
          <p:cNvPr id="4" name="Image 0" descr="docs\shots\02-quiz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89888"/>
            <a:ext cx="6903720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89888"/>
            <a:ext cx="6903720" cy="47091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35240" y="1453896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35240" y="1453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 1/40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규정이 정한 만큼만 나옵니다. 은행에 60문항이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 있어도 그중에서 40개를 뽑습니다.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635240" y="2249424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3524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2212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 문항 + 우리말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영문만 놓으면 읽다가 막히고, 우리말만 놓으면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원문과 달라집니다. 그래서 둘 다 보여 줍니다.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635240" y="3044952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35240" y="3044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3008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 번호 ①②③④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001000" y="32826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 차례도 시험마다 섞습니다. 다만 「위 모두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정답」처럼 자리를 옮기면 말이 안 되는 것은 붙들어 둡니다.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635240" y="3840480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63524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38039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답안 표기란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001000" y="40782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답이 오른쪽에 쭉 보입니다. 번호를 누르면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문항으로 바로 건너뜁니다.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635240" y="4636008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35240" y="4636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4599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계산기 · 이전 · 다음 · 종료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001000" y="48737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계산기는 화면 안에서 열고 닫습니다. 종료를 누르면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사라진다고 먼저 물어봅니다.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635240" y="5431536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635240" y="5431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001000" y="5394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001000" y="5669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푼 문제가 있으면 「풀지 않은 문제가 N개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있습니다」 하고 한 번 더 묻는다.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6236208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문제는 세 가지 — 넷 중 하나 고르기, 맞는 것 모두 고르기, 답을 직접 써 넣기.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응시자 화면 ③  검사절차서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전문시험은 우리 장비와 절차를 묻습니다. 그래서 절차서를 옆에 펴 놓고 풀 수 있게 했습니다</a:t>
            </a:r>
            <a:endParaRPr lang="en-US" sz="1900" dirty="0"/>
          </a:p>
        </p:txBody>
      </p:sp>
      <p:pic>
        <p:nvPicPr>
          <p:cNvPr id="4" name="Image 0" descr="docs\shots\14-pro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89888"/>
            <a:ext cx="7589520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89888"/>
            <a:ext cx="7589520" cy="47091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146304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10종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1865376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MT·PT·RT·UT·VT·ECT·RFT·TOFD·PAUT 검사절차서와 자격인정 규정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251460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179장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916936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파일에서 뽑아 그대로 옮긴 그림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356616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찾기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968496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넣으면 그 자리로 바로 갑니다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461772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문제에서 바로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5020056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문제에 적힌 절차서 이름을 누르면 열립니다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412480" y="5623560"/>
            <a:ext cx="3639312" cy="47548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0" y="5623560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사무실로 찾으러 가지 않아도 됩니다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2362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표지 양식이 제각각이라 하나로 맞추고, 어색한 번역 문장 58군데를 다시 썼습니다.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응시자 화면 ④  결과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문항을 풀고 제출을 누르면, 그 자리에서 점수가 나옵니다</a:t>
            </a:r>
            <a:endParaRPr lang="en-US" sz="1900" dirty="0"/>
          </a:p>
        </p:txBody>
      </p:sp>
      <p:pic>
        <p:nvPicPr>
          <p:cNvPr id="4" name="Image 0" descr="docs\shots\04-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463040"/>
            <a:ext cx="685800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63040"/>
            <a:ext cx="6858000" cy="420624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채점하지 않습니다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2093976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정답지를 맞춰 볼 일도, 점수를 셀 일도 없습니다.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시험은 언제 채점해도 같은 점수가 나옵니다.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3108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평균도 저절로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3511296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과목마다 70%를 넘겨야 하고, 평균은 80%를 넘겨야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합니다. 우리 절차서가 정해 둔 그대로입니다.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4526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문항은 근거와 함께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4928616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틀렸는지 그 자리에서 알게 됩니다. 시험이 그대로 공부가 됩니다.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①  누가 몇 점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언제 무슨 시험을 쳐서 몇 점을 받았는지, 한 화면에서 다 보입니다</a:t>
            </a:r>
            <a:endParaRPr lang="en-US" sz="1900" dirty="0"/>
          </a:p>
        </p:txBody>
      </p:sp>
      <p:pic>
        <p:nvPicPr>
          <p:cNvPr id="4" name="Image 0" descr="docs\shots\05-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89888"/>
            <a:ext cx="7315200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89888"/>
            <a:ext cx="7315200" cy="47091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92440" y="1499616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92440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1463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등급 · 종목 · 구분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175564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무슨 시험을 쳤는지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92440" y="2286000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9244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458200" y="22494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 시작 ~ 종료 · 소요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254203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시험시간을 지켰는지 나중에 짚어 볼 수 있습니다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92440" y="3072384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92440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458200" y="30358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/ 출제 · 점수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458200" y="332841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문항 중 몇 개를 맞혔는지 함께 적힙니다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92440" y="3858768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092440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458200" y="38221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458200" y="4114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합격과 불합격은 색으로 갈라 둡니다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092440" y="4645152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092440" y="4645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458200" y="46085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결과지 출력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458200" y="490118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회차의 채점결과보고서를 그 자리에서 뽑습니다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092440" y="5431536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092440" y="5431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458200" y="5394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이력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458200" y="56875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사람별로 묶어 보는 화면으로 넘어갑니다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6236208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이름으로 찾을 수도, 등급이나 검사법으로 걸러 볼 수도 있습니다. 기록은 한곳에 쌓이므로 어느 컴퓨터에서 봐도 같습니다.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②  자격 이력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사람이 지금까지 친 시험을 전부 모아, 자격이 지금 어떤 상태인지 알려 줍니다</a:t>
            </a:r>
            <a:endParaRPr lang="en-US" sz="1900" dirty="0"/>
          </a:p>
        </p:txBody>
      </p:sp>
      <p:pic>
        <p:nvPicPr>
          <p:cNvPr id="4" name="Image 0" descr="docs\shots\06-his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777240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71600"/>
            <a:ext cx="7772400" cy="420624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49640" y="1499616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49640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146304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시험별 점수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15400" y="175564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사람이 친 시험을 등급과 종목별로 모읍니다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49640" y="2322576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49640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915400" y="228600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257860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규정이 정한 대로 평균을 냅니다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549640" y="3145536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49640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915400" y="31089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915400" y="340156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합격인지, 불합격인지, 아직 덜 끝났는지를 가려 줍니다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549640" y="3968496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54964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915400" y="393192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인증일자 · 만료일자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915400" y="422452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언제까지 쓸 수 있는 자격인지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549640" y="4791456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549640" y="4791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915400" y="475488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915400" y="504748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 있는지, 곧 끝나는지, 이미 끝났는지를 색으로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5760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사람이 저마다 다른 경우입니다. 한 사람씩 따라가 보겠습니다.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이력 ②  점수를 이렇게 가른다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과목이라도 70%에 못 미치면 안 되고, 평균은 80%를 넘겨야 합니다</a:t>
            </a:r>
            <a:endParaRPr lang="en-US" sz="1900" dirty="0"/>
          </a:p>
        </p:txBody>
      </p:sp>
      <p:pic>
        <p:nvPicPr>
          <p:cNvPr id="4" name="Image 0" descr="docs\shots\21-박민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11475720" cy="1965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71600"/>
            <a:ext cx="11475720" cy="19659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" y="3429000"/>
            <a:ext cx="11475720" cy="868680"/>
          </a:xfrm>
          <a:prstGeom prst="rect">
            <a:avLst/>
          </a:prstGeom>
          <a:solidFill>
            <a:srgbClr val="FFF2F2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35204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75 · 전문 80  →  평균 77.5  →  불합격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840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과목 다 70%는 넘겼습니다. 그런데 평균이 77.5라 80%에 닿지 못했습니다.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과목만 잘 봐서는 자격이 나오지 않습니다.</a:t>
            </a:r>
            <a:endParaRPr lang="en-US" sz="1300" dirty="0"/>
          </a:p>
        </p:txBody>
      </p:sp>
      <p:pic>
        <p:nvPicPr>
          <p:cNvPr id="9" name="Image 1" descr="docs\shots\20-김철수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928" y="4480560"/>
            <a:ext cx="11475720" cy="1417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6928" y="4480560"/>
            <a:ext cx="11475720" cy="141732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66928" y="5943600"/>
            <a:ext cx="11475720" cy="658368"/>
          </a:xfrm>
          <a:prstGeom prst="rect">
            <a:avLst/>
          </a:prstGeom>
          <a:solidFill>
            <a:srgbClr val="FFFBF2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68680" y="5989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8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기초 88 · 종목 92 · 전문 「종이 시행」  →  미완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627278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Ⅲ 전문시험은 아직 종이로 칩니다. 점수가 들어오지 않았으니 임의로 합격시키지 않고 「미완」으로 둡니다.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이력 ③  만료를 먼저 알려 준다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자격이 끝난 줄 모르고 검사를 나가면, 고객 감사에서 그대로 지적을 받습니다</a:t>
            </a:r>
            <a:endParaRPr lang="en-US" sz="1900" dirty="0"/>
          </a:p>
        </p:txBody>
      </p:sp>
      <p:pic>
        <p:nvPicPr>
          <p:cNvPr id="4" name="Image 0" descr="docs\shots\22-이영희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11475720" cy="1965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71600"/>
            <a:ext cx="11475720" cy="19659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" y="3566160"/>
            <a:ext cx="3581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5528" y="3749040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만료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95528" y="4069080"/>
            <a:ext cx="312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2026-09-30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795528" y="4617720"/>
            <a:ext cx="312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만료되는 달의 마지막 날에 끝납니다.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Ⅱ 는 3년, Level Ⅲ 는 5년마다 다시 받습니다.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14088" y="3566160"/>
            <a:ext cx="3581400" cy="1920240"/>
          </a:xfrm>
          <a:prstGeom prst="rect">
            <a:avLst/>
          </a:prstGeom>
          <a:solidFill>
            <a:srgbClr val="FFF2F2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42688" y="3749040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상태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742688" y="4069080"/>
            <a:ext cx="312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33일 전</a:t>
            </a:r>
            <a:endParaRPr lang="en-US" sz="2300" dirty="0"/>
          </a:p>
        </p:txBody>
      </p:sp>
      <p:sp>
        <p:nvSpPr>
          <p:cNvPr id="13" name="Text 10"/>
          <p:cNvSpPr txBox="1"/>
          <p:nvPr/>
        </p:nvSpPr>
        <p:spPr>
          <a:xfrm>
            <a:off x="4742688" y="4617720"/>
            <a:ext cx="312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석 달 안에 드는 순간 색이 바뀝니다.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명단을 뽑아 본인과 부서에 알리면 됩니다.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461248" y="3566160"/>
            <a:ext cx="3581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9848" y="3749040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시력검사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689848" y="4069080"/>
            <a:ext cx="312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2026-04-30 만료</a:t>
            </a:r>
            <a:endParaRPr lang="en-US" sz="2300" dirty="0"/>
          </a:p>
        </p:txBody>
      </p:sp>
      <p:sp>
        <p:nvSpPr>
          <p:cNvPr id="17" name="Text 14"/>
          <p:cNvSpPr txBox="1"/>
          <p:nvPr/>
        </p:nvSpPr>
        <p:spPr>
          <a:xfrm>
            <a:off x="8689848" y="4617720"/>
            <a:ext cx="312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자격이 살아 있어도 시력검사가 지나면 잡힙니다.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시력검사는 받은 날로부터 1년입니다.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5715000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예전에는 달력에 적어 두고 사람이 챙겼습니다. 이제는 명단이 저절로 나옵니다.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이력 ④  바깥 자격이란 무엇인가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낸 자격이 아니라, 밖에서 받아 온 자격입니다. 두 가지를 인정합니다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인정하는 자격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5120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8562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ASNT NDE Level Ⅲ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0756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미국비파괴검사학회(ASNT)가 낸 Level 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414016"/>
            <a:ext cx="5120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245973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9712 Level Ⅲ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6791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국제표준 ISO 9712 로 받은 Level 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017520"/>
            <a:ext cx="5120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" y="30632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9712 Level Ⅱ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2826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국제표준 ISO 9712 로 받은 Level Ⅱ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1463040"/>
            <a:ext cx="6099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면제되나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0" y="1810512"/>
            <a:ext cx="2286000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18105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가진 자격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0" y="1810512"/>
            <a:ext cx="1828800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18105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면제되는 시험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058400" y="1810512"/>
            <a:ext cx="1984248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49840" y="1810512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치르는 시험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0" y="2194560"/>
            <a:ext cx="2286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219456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ASNT Level Ⅲ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ISO 9712 Level Ⅲ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0" y="2194560"/>
            <a:ext cx="1828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1040" y="2194560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기초시험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종목시험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058400" y="2194560"/>
            <a:ext cx="198424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149840" y="2194560"/>
            <a:ext cx="1801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전문시험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실기 · 실증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035808"/>
            <a:ext cx="2286000" cy="804672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35040" y="3035808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9712 Level Ⅱ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29600" y="3035808"/>
            <a:ext cx="1828800" cy="804672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21040" y="3035808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일반시험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실기시험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058400" y="3035808"/>
            <a:ext cx="1984248" cy="804672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149840" y="3035808"/>
            <a:ext cx="1801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전문시험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943600" y="3968496"/>
            <a:ext cx="6099048" cy="566928"/>
          </a:xfrm>
          <a:prstGeom prst="rect">
            <a:avLst/>
          </a:prstGeom>
          <a:solidFill>
            <a:srgbClr val="FFF2F2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44768" y="396849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치르는 시험의 합격선은 80% — 개별 70% 를 적용하지 않습니다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66928" y="4700016"/>
            <a:ext cx="11475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4672" y="4773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8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종목마다 따로 봅니다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23360" y="47731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UT 자격이 있다고 RT 까지 면제되지 않습니다.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종목에 응시하면 전 과목을 다 칩니다.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6928" y="5486400"/>
            <a:ext cx="11475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" y="5559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8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자격증 원본을 확인합니다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4023360" y="55595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NDE Level Ⅲ 또는 QA 가 원본으로 확인하고,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종류 · 번호 · 만료일을 응시자 명단에 적습니다.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6309360"/>
            <a:ext cx="11475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— 자격인정 절차서(HIE-QP-E01) 7.3.5 · 7.3.7, 필기시험 시행 규칙 5.1.5 ~ 5.1.8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이력 ④-2  그래서 이렇게 갈립니다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자격을 가진 두 사람입니다. 80% 라는 선이 실제로 어떻게 갈리는지 보겠습니다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475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 다 같은 자격을 가졌고 같은 전문시험을 쳤습니다. 다른 것은 점수뿐입니다</a:t>
            </a:r>
            <a:endParaRPr lang="en-US" sz="1400" dirty="0"/>
          </a:p>
        </p:txBody>
      </p:sp>
      <p:pic>
        <p:nvPicPr>
          <p:cNvPr id="5" name="Image 0" descr="docs\shots\23-정약용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755648"/>
            <a:ext cx="11475720" cy="1783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755648"/>
            <a:ext cx="11475720" cy="178308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3611880"/>
            <a:ext cx="11475720" cy="658368"/>
          </a:xfrm>
          <a:prstGeom prst="rect">
            <a:avLst/>
          </a:prstGeom>
          <a:solidFill>
            <a:srgbClr val="FFF2F2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75  →  불합격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931920" y="36758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면제를 받지 않았더라면 70%를 넘겨 붙었을 점수입니다. 면제받은 사람에게는 80%가 기준입니다.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9593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면제받은 과목은 「면제」로 뜨고 옆에 어느 자격으로 면제받았는지가 붙습니다. 안 친 것과 헷갈리지 않게 색을 달리했습니다.</a:t>
            </a:r>
            <a:endParaRPr lang="en-US" sz="1250" dirty="0"/>
          </a:p>
        </p:txBody>
      </p:sp>
      <p:pic>
        <p:nvPicPr>
          <p:cNvPr id="11" name="Image 1" descr="docs\shots\24-강감찬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928" y="4434840"/>
            <a:ext cx="11475720" cy="17830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66928" y="4434840"/>
            <a:ext cx="11475720" cy="178308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66928" y="6291072"/>
            <a:ext cx="11475720" cy="384048"/>
          </a:xfrm>
          <a:prstGeom prst="rect">
            <a:avLst/>
          </a:prstGeom>
          <a:solidFill>
            <a:srgbClr val="F2FBF5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68680" y="62910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85  →  필기 합격 · 만료일 2029-08-31 이 저절로 잡힙니다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이력 ⑤  규정에 어긋난 것을 잡는다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떨어지면 30일이 지나야 다시 칠 수 있습니다. 그 사이를 세는 일도 사람 몫이었습니다</a:t>
            </a:r>
            <a:endParaRPr lang="en-US" sz="1900" dirty="0"/>
          </a:p>
        </p:txBody>
      </p:sp>
      <p:pic>
        <p:nvPicPr>
          <p:cNvPr id="4" name="Image 0" descr="docs\shots\25-홍길동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1147572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71600"/>
            <a:ext cx="11475720" cy="301752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" y="4572000"/>
            <a:ext cx="11475720" cy="960120"/>
          </a:xfrm>
          <a:prstGeom prst="rect">
            <a:avLst/>
          </a:prstGeom>
          <a:solidFill>
            <a:srgbClr val="FFFBF2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468172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8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 UT — 불합격 뒤 18일 만에 다시 쳤습니다. 규정대로면 2026-06-01부터입니다.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교육을 받았다는 증거가 있으면 30일 전에도 칠 수 있습니다. 그런 경우인지 확인해 보라고 짚어 줄 뿐, 프로그램이 막지는 않습니다.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57607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UT 일반 60점 → 불합격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6035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2026-05-02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510528" y="57607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침 88점 → 합격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10528" y="6035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2026-05-20   18일 뒤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6355080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날짜를 일일이 세지 않아도 먼저 짚어 줍니다.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③  서식이 저절로 쌓인다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규정이 남기라고 정해 둔 기록 열두 가지가, 시험을 칠 때마다 저절로 쌓입니다</a:t>
            </a:r>
            <a:endParaRPr lang="en-US" sz="1900" dirty="0"/>
          </a:p>
        </p:txBody>
      </p:sp>
      <p:pic>
        <p:nvPicPr>
          <p:cNvPr id="4" name="Image 0" descr="docs\shots\08-repo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539496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71600"/>
            <a:ext cx="5394960" cy="44805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pic>
        <p:nvPicPr>
          <p:cNvPr id="6" name="Image 1" descr="docs\shots\07-expir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371600"/>
            <a:ext cx="5394960" cy="44805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172200" y="1371600"/>
            <a:ext cx="5394960" cy="44805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66928" y="59436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E02-07  채점결과보고서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2362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제출할 때마다 그 회차를 다시 세어 갱신합니다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6172200" y="59436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E03-04  자격 만료 예정자 명단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172200" y="62362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기준일자마다 한 벌씩 남습니다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④  빈 서식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손으로 채워야 하는 서식 아홉 가지도, 찾아다닐 것 없이 화면에서 바로 뽑습니다</a:t>
            </a:r>
            <a:endParaRPr lang="en-US" sz="1900" dirty="0"/>
          </a:p>
        </p:txBody>
      </p:sp>
      <p:pic>
        <p:nvPicPr>
          <p:cNvPr id="4" name="Image 0" descr="docs\shots\09-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66160" y="1371600"/>
            <a:ext cx="54864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566160" y="1371600"/>
            <a:ext cx="5486400" cy="457200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5727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E02-01  시행계획서 및 응시자 명단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9751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E02-02  감독 관리사항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377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E02-03  응시자 유의사항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77977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E02-04  시험문제 폐기 대장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1821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E02-05  부정행위 처리 기록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35844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E02-06  문제은행 접근 기록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398678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E03-02  자격증 재발급 신청서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43891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E03-03  자격증 재발급 대장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479145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E03-05  자격종료 · 복권 기록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535838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9종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5943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번호가 붙어 있고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늘 최신입니다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235440" y="2011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면제받는 사람을 적는 칸을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E02-01 에 새로 냈습니다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⑤  종이 시험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컴퓨터가 모자라거나 정전이 나도 시험은 칩니다. 시험지를 뽑아 종이로 하면 됩니다</a:t>
            </a:r>
            <a:endParaRPr lang="en-US" sz="1900" dirty="0"/>
          </a:p>
        </p:txBody>
      </p:sp>
      <p:pic>
        <p:nvPicPr>
          <p:cNvPr id="4" name="Image 0" descr="docs\shots\11-pap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89888"/>
            <a:ext cx="5852160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89888"/>
            <a:ext cx="5852160" cy="47091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29400" y="1508760"/>
            <a:ext cx="292608" cy="29260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629400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022592" y="146304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머리글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022592" y="177393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마크와 이름, 시험 종목, 등급, 쪽 번호가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장에 붙습니다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29400" y="2441448"/>
            <a:ext cx="292608" cy="29260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2940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022592" y="23957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갑지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22592" y="27066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NAME · DATE · Start · Finish · SCORE ·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EXAMINER 기입란과 NOTE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29400" y="3374136"/>
            <a:ext cx="292608" cy="29260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629400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022592" y="33284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022592" y="36393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시험에 무엇을 참고할 수 있는지 밝혀 둡니다.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시험마다 달라서 다섯 갈래로 나눠 두었습니다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629400" y="4306824"/>
            <a:ext cx="292608" cy="29260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29400" y="4306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022592" y="42611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워터마크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022592" y="4572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마크를 가운데에 옅게 깝니다.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글씨를 가리지 않을 만큼만 넣었습니다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629400" y="5239512"/>
            <a:ext cx="292608" cy="29260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629400" y="5239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022592" y="51937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Approved by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022592" y="550468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NDE Level Ⅲ 승인란 (E01 7.4.1)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6236208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뽑는 것은 세 가지입니다. 백지 시험지, 응시자가 푼 답안지, 그리고 정답과 근거가 함께 나오는 관리자용.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①  먼저 혼자 여기까지 만들었다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 13일부터 8월 12일까지 한 달. 빈 화면에서 시작해 시험을 칠 수 있는 데까지 갔습니다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2267712" cy="402336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463040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834640" y="1463040"/>
            <a:ext cx="1097280" cy="402336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44368" y="1463040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931920" y="1463040"/>
            <a:ext cx="4206240" cy="402336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41648" y="1463040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하는 자리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1865376"/>
            <a:ext cx="7571232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" y="186537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Home.jsx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186537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548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041648" y="186537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화면 — 이름 넣고 등급·종목 고르기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76656" y="226771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Quiz.jsx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2267712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643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041648" y="226771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푸는 화면 — 보기 고르기, 답안 표기란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2670048"/>
            <a:ext cx="7571232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" y="2670048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Result.jsx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267004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445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041648" y="267004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화면 — 점수와 틀린 문항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76656" y="3072384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Admin.jsx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834640" y="3072384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326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041648" y="307238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— 누가 몇 점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474720"/>
            <a:ext cx="7571232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" y="347472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Calculator.jsx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834640" y="347472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282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041648" y="34747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중에 쓰는 계산기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76656" y="387705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ExamData.jsx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2834640" y="387705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041648" y="387705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종목마다 몇 문제를 낼지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4279392"/>
            <a:ext cx="7571232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6656" y="427939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PrintExam.jsx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2834640" y="4279392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971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041648" y="427939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시험지를 종이에 뽑는 모양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76656" y="4681728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PrintAdminExam.jsx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2834640" y="468172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920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041648" y="468172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정답과 근거가 함께 나오는 관리자용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66928" y="5084064"/>
            <a:ext cx="7571232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6656" y="5084064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print.css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2834640" y="5084064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1,198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4041648" y="50840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종이에 어떻게 앉힐지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676656" y="548640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style.css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2834640" y="548640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685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4041648" y="54864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색과 자리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5596128"/>
            <a:ext cx="7571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밖에 화면을 넘기는 자리, 문제 그림, 답안지 인쇄까지 — 파일 46개.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321040" y="1463040"/>
            <a:ext cx="37216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503920" y="1572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</a:t>
            </a:r>
            <a:endParaRPr lang="en-US" sz="2600" dirty="0"/>
          </a:p>
        </p:txBody>
      </p:sp>
      <p:sp>
        <p:nvSpPr>
          <p:cNvPr id="48" name="Text 46"/>
          <p:cNvSpPr txBox="1"/>
          <p:nvPr/>
        </p:nvSpPr>
        <p:spPr>
          <a:xfrm>
            <a:off x="10515600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파일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8503920" y="20848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· 인쇄 · 문제은행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321040" y="2688336"/>
            <a:ext cx="37216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503920" y="27980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22,143</a:t>
            </a:r>
            <a:endParaRPr lang="en-US" sz="2600" dirty="0"/>
          </a:p>
        </p:txBody>
      </p:sp>
      <p:sp>
        <p:nvSpPr>
          <p:cNvPr id="52" name="Text 50"/>
          <p:cNvSpPr txBox="1"/>
          <p:nvPr/>
        </p:nvSpPr>
        <p:spPr>
          <a:xfrm>
            <a:off x="10515600" y="2944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8503920" y="33101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14,226줄을 빼면 화면이 7,917줄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321040" y="3913632"/>
            <a:ext cx="37216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50392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달</a:t>
            </a:r>
            <a:endParaRPr lang="en-US" sz="2600" dirty="0"/>
          </a:p>
        </p:txBody>
      </p:sp>
      <p:sp>
        <p:nvSpPr>
          <p:cNvPr id="56" name="Text 54"/>
          <p:cNvSpPr txBox="1"/>
          <p:nvPr/>
        </p:nvSpPr>
        <p:spPr>
          <a:xfrm>
            <a:off x="10515600" y="4169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7.13 ~ 8.12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8503920" y="453542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사이 통째로 두 번 갈아엎음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321040" y="5138928"/>
            <a:ext cx="3721608" cy="731520"/>
          </a:xfrm>
          <a:prstGeom prst="rect">
            <a:avLst/>
          </a:prstGeom>
          <a:solidFill>
            <a:srgbClr val="FFF2F2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503920" y="513892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상태로 이미 시험을 칠 수 있었습니다</a:t>
            </a:r>
            <a:endParaRPr lang="en-US" sz="1350" dirty="0"/>
          </a:p>
        </p:txBody>
      </p:sp>
      <p:sp>
        <p:nvSpPr>
          <p:cNvPr id="60" name="Text 58"/>
          <p:cNvSpPr txBox="1"/>
          <p:nvPr/>
        </p:nvSpPr>
        <p:spPr>
          <a:xfrm>
            <a:off x="566928" y="6053328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화면도 채점도 인쇄도 다 돌아갔습니다. 뒤에 이야기하는 것들은 여기서부터 더 얹은 것입니다.</a:t>
            </a:r>
            <a:endParaRPr lang="en-US" sz="1350" dirty="0"/>
          </a:p>
        </p:txBody>
      </p:sp>
      <p:sp>
        <p:nvSpPr>
          <p:cNvPr id="61" name="Text 59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①-2  그 뒤에 더 얹은 것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만들어 둔 것 위에, 규정을 맞추고 검사를 붙이고 규칙 문서를 지었습니다</a:t>
            </a:r>
            <a:endParaRPr lang="en-US" sz="1900" dirty="0"/>
          </a:p>
        </p:txBody>
      </p:sp>
      <p:pic>
        <p:nvPicPr>
          <p:cNvPr id="4" name="Image 0" descr="docs\shots\15-co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89888"/>
            <a:ext cx="6949440" cy="4617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89888"/>
            <a:ext cx="6949440" cy="461772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463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1,369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509760" y="1609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1920240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 24개로 늘리고 답을 원본과 한 문제씩 맞대어 봄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3042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137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9509760" y="2450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276148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— 옮기고 · 맞대어 보고 · 틀린 데를 찾는 것들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31455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9509760" y="3291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3602736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문서 — 필기시험 시행 규칙과 자격증 발행·관리 규칙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39867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509760" y="4133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4443984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때마다 스스로 도는 검사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772400" y="4892040"/>
            <a:ext cx="4279392" cy="1188720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28432" y="50292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22,143줄 → 지금 60,464줄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028432" y="537667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8월 12일까지 혼자 만들고, 그 뒤 3주 동안 규정에 맞추고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검사를 붙였습니다. 고쳐서 올린 것만 217번입니다.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199632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왼쪽은 실제 파일입니다. 혼자 짜 둔 자리에, 뒤에 「이건 규정 몇 조에서 온 값이다」를 달았습니다.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①-3  VS Code 화면은 이렇게 생겼다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 Code 라는 프로그램입니다. 창이 세 칸으로 나뉘고, 옆에 시험 화면을 띄워 둡니다</a:t>
            </a:r>
            <a:endParaRPr lang="en-US" sz="1900" dirty="0"/>
          </a:p>
        </p:txBody>
      </p:sp>
      <p:pic>
        <p:nvPicPr>
          <p:cNvPr id="4" name="Image 0" descr="docs\shots\17-vsco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444752"/>
            <a:ext cx="685800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44752"/>
            <a:ext cx="6858000" cy="452628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99248" y="1444752"/>
            <a:ext cx="43434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18704" y="1554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— 파일 목록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918704" y="186537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452개 파일이 나무처럼 펼쳐집니다. 시험 화면도,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문제은행도, 규칙 문서도 다 여기 한 창에 있습니다.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99248" y="2596896"/>
            <a:ext cx="43434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18704" y="27066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— 글을 고치는 곳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918704" y="301752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보이는 것이 실제 파일입니다. 규정에서 온 숫자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옆에 「어느 조항에서 왔는지」를 함께 적어 두었습니다.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99248" y="3749040"/>
            <a:ext cx="43434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18704" y="38587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— 명령을 넣는 칸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918704" y="416966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 둔 검사 도구를 창을 옮기지 않고 그 자리에서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돌립니다. 결과가 바로 아래에 뜹니다.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699248" y="4901184"/>
            <a:ext cx="43434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18704" y="50109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 창 — 시험 화면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918704" y="532180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브라우저를 옆에 띄워 둡니다. 저장하는 순간 다시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그려져, 고친 결과를 바로 눈으로 봅니다.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6144768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마이크로소프트가 무료로 내놓은 것입니다. 사는 데 든 돈이 없습니다.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①-4  하루를 따라가 보면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「시험 화면에 시계를 달았다」 한 줄이 실제로는 이 여섯 걸음이었습니다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475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627632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5179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먼저 폈다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179222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시험시간이 몇 분인지부터 찾았습니다. 필기시험 시행 규칙에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「2시간 이내」로 적혀 있었습니다.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326880" y="1627632"/>
            <a:ext cx="2468880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0" y="16276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E02 5.2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267712"/>
            <a:ext cx="11475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432304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16736" y="23225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빠져 있는 것을 알아챘다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16736" y="25968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규정은 2시간인데 화면에는 시계가 없었습니다. 응시자도 감독자도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얼마나 남았는지 알 방법이 없었습니다.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6880" y="2432304"/>
            <a:ext cx="2468880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0" y="24323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072384"/>
            <a:ext cx="11475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3236976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16736" y="31272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한자리에 두었다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16736" y="340156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 이라는 숫자를 화면 여기저기에 적지 않고, 이름을 붙여 한 곳에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두고 그 옆에 어느 조항에서 왔는지를 적었습니다.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26880" y="3236976"/>
            <a:ext cx="2468880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26880" y="32369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LIMIT_MIN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3877056"/>
            <a:ext cx="11475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041648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4672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316736" y="3931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 붙였다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316736" y="420624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머리글 오른쪽에 남은 시간을 띄우고, 10분이 남으면 빨강으로,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0이 되면 그때까지 표기한 답으로 자동 제출하게 했습니다.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326880" y="4041648"/>
            <a:ext cx="2468880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26880" y="40416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Quiz.jsx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4681728"/>
            <a:ext cx="11475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" y="4846320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4672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316736" y="47365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눈으로 확인했다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316736" y="501091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저장하자 옆 화면에 「남은 시간 1:59:55」가 떴습니다.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숫자가 흔들리지 않게 자릿수를 고정하는 것까지 그 자리에서 봤습니다.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326880" y="4846320"/>
            <a:ext cx="2468880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326880" y="4846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자리에서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6928" y="5486400"/>
            <a:ext cx="11475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4672" y="5650992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04672" y="5650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316736" y="55412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고쳤는지 남겼다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1316736" y="58155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「시험 화면에 시계를 달고, 눌러야 할 단추와 아닌 것을 갈랐다」로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적어 두었습니다. 나중에 이 줄만 봐도 까닭을 압니다.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326880" y="5650992"/>
            <a:ext cx="2468880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326880" y="56509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217덩이째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66928" y="6309360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한 줄이 화면의 시계가 되기까지, 반나절이면 됩니다. 어려운 것은 만드는 일이 아니라 빠진 것을 알아채는 일이었습니다.</a:t>
            </a:r>
            <a:endParaRPr lang="en-US" sz="1350" dirty="0"/>
          </a:p>
        </p:txBody>
      </p:sp>
      <p:sp>
        <p:nvSpPr>
          <p:cNvPr id="47" name="Text 45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①-5  고친 기록이 남아 있다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때마다 무엇을 왜 고쳤는지 적어 두었습니다. 217덩이가 남아 있습니다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758952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60934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남아 있는 기록에서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933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9933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인용 98군데를 한 줄씩 원문과 대조 — 틀린 곳 셋을 바로잡음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505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2450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3 을 기계 검사에 넣음 — 원문·규칙·코드 셋을 한자리에서 본다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07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9077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화면에 시계를 달고, 눌러야 할 단추와 아닌 것을 갈랐다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3649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" y="33649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마크를 원본 .ai 에서 다시 꺼냈다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8221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38221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E02 5.1.5 를 규정 말투로 고치고, 중복된 5.2.4 를 뺌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2793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42793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문서 서식을 다듬음 — 쪽이 어색하게 끊기지 않게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12480" y="1481328"/>
            <a:ext cx="36301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31936" y="15910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되돌릴 수 있습니다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631936" y="190195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 고친 것이 있으면 그 덩이만 빼면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됩니다. 처음부터 다시 하지 않습니다.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412480" y="2615184"/>
            <a:ext cx="36301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31936" y="27249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까닭이 남습니다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631936" y="303580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반년 뒤에 「이 숫자는 왜 이렇게 두었나」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물으면 답이 적혀 있습니다.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412480" y="3749040"/>
            <a:ext cx="36301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31936" y="3858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넘겨줄 수 있습니다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631936" y="4169664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사람이 이 기록만 따라 읽어도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왜 그렇게 했는지 알 수 있습니다.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992624"/>
            <a:ext cx="11475720" cy="969264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51389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만든 것이지만, 혼자만 아는 것으로 두지 않았습니다.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5468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코드에는 「이 값은 규정 몇 조에서 왔다」를, 기록에는 「왜 이렇게 고쳤다」를 적어 두었습니다.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①-6  한 벌을 옮긴다는 것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 「시험지를 옮겼습니다」라고 한 줄로 지나갔는데, 실제로는 이런 일이었습니다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4757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92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66420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답지가 세 가지 꼴이었습니다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02996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49벌을 열어 보니 답을 적어 둔 모양이 제각각이었습니다. 표로 묶은 것,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칸을 그린 것, 아래에 각주로 단 것. 읽어 내는 도구를 세 번 다시 짰습니다.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104120" y="18653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/ 49 자동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706624"/>
            <a:ext cx="114757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980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285292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번호가 서로 어긋나 있었습니다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321868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시험지의 번호와 문제은행의 번호가 맞지 않는 데가 있었습니다.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번호로 짝지으면 엉뚱한 답이 붙습니다. 문제 글로 짝지어 맞췄습니다.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104120" y="30540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1,369문항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895344"/>
            <a:ext cx="114757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169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1481328" y="404164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문제가 두 벌에 걸쳐 있었습니다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440740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원본이 A형·B형으로 나뉘어 있어 합치면 겹칩니다. 겹친 것을 찾아내는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도구를 따로 만들어 훑었습니다.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104120" y="42428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 24개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5084064"/>
            <a:ext cx="114757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358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1481328" y="523036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그대로 믿지 않았습니다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559612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원본에 적힌 답을 옮기기만 하면 원본의 잘못까지 따라옵니다.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풀어 맞대 보았고, 그러다 영문 오타 14가지를 찾았습니다.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104120" y="54315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오타 14가지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355080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베껴 담는 일인 줄 알았는데, 하다 보니 한 문제씩 맞대어 보는 일이었습니다. 그래서 지금 은행에 든 답은 원본보다 앞서 있습니다.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②  규정을 코드로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절차서를 책상에 펴 놓고, 조항 하나하나가 프로그램의 어느 자리가 될지 짝을 지었습니다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011680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4813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1481328"/>
            <a:ext cx="4251960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15768" y="1481328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 둔 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481328"/>
            <a:ext cx="2194560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13448" y="148132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들어간 파일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0" y="1481328"/>
            <a:ext cx="2907792" cy="38404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53728" y="1481328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 둔 이름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1865376"/>
            <a:ext cx="11484864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" y="1865376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표 3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715768" y="1865376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종목마다 몇 문제를 낼지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13448" y="1865376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ExamData.jsx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253728" y="1865376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QUESTION_COUNT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" y="224942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7.3.4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715768" y="2249424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Ⅲ 기초 55 · 종목 65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13448" y="224942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ExamData.jsx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53728" y="224942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III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2633472"/>
            <a:ext cx="11484864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" y="263347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7.4.4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715768" y="2633472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종합점수는 단순 평균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013448" y="263347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history.js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253728" y="2633472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average()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" y="301752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7.4.5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715768" y="3017520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70% · 종합 80%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013448" y="301752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history.js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253728" y="301752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PASS_EACH / PASS_TOTAL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3401568"/>
            <a:ext cx="11484864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6656" y="340156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7.5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2715768" y="3401568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재시험은 30일 지나서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013448" y="340156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history.js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253728" y="3401568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RETAKE_DAYS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" y="3785616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7.9.2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2715768" y="3785616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재자격 Ⅰ·Ⅱ 3년 · Ⅲ 5년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013448" y="3785616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history.js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253728" y="3785616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RECERT_YEARS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6928" y="4169664"/>
            <a:ext cx="11484864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6656" y="416966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7.3.2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2715768" y="4169664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시력검사는 1년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7013448" y="416966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history.js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253728" y="416966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EYE_YEARS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76656" y="455371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7.3.5·7.3.7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2715768" y="4553712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 자격이 있으면 면제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7013448" y="455371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history.js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9253728" y="4553712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exemptKinds()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66928" y="4937760"/>
            <a:ext cx="11484864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76656" y="493776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E03 6.2.1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2715768" y="4937760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3개월 전에 알림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7013448" y="493776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history.js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9253728" y="493776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WARN_MONTHS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76656" y="532180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E02 7.3.1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2715768" y="5321808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 차례를 시험마다 섞기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7013448" y="532180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optionShuffle.js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9253728" y="5321808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shuffleOptions()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66928" y="5705856"/>
            <a:ext cx="11484864" cy="38404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76656" y="5705856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E02 5.3.2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2715768" y="5705856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시험지 NOTE 다섯 유형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7013448" y="5705856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examNote.js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9253728" y="5705856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examNote()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676656" y="6089904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E02 8.0</a:t>
            </a:r>
            <a:endParaRPr lang="en-US" sz="1250" dirty="0"/>
          </a:p>
        </p:txBody>
      </p:sp>
      <p:sp>
        <p:nvSpPr>
          <p:cNvPr id="63" name="Text 61"/>
          <p:cNvSpPr txBox="1"/>
          <p:nvPr/>
        </p:nvSpPr>
        <p:spPr>
          <a:xfrm>
            <a:off x="2715768" y="6089904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서식 아홉 가지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7013448" y="608990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blankForms.jsx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9253728" y="608990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BLANK_FORMS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566928" y="6309360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숫자를 아무 데나 적어 두지 않았습니다. 이름을 붙여 한자리에 모으고, 그 옆에 어느 조항에서 온 값인지를 함께 적었습니다.</a:t>
            </a:r>
            <a:endParaRPr lang="en-US" sz="1350" dirty="0"/>
          </a:p>
        </p:txBody>
      </p:sp>
      <p:sp>
        <p:nvSpPr>
          <p:cNvPr id="67" name="Text 65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②-2  그 44개가 무엇인가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「조항을 옮겼다」로 지나가면 뭘 옮겼는지 모릅니다. 갈래로 묶으면 이렇습니다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475720" cy="512064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81328"/>
            <a:ext cx="658368" cy="512064"/>
          </a:xfrm>
          <a:prstGeom prst="rect">
            <a:avLst/>
          </a:prstGeom>
          <a:solidFill>
            <a:srgbClr val="F2F8F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481328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8132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책임지나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481328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승인 · 시험 운영과 채점 · 시험지 보관 · 본인이나 부하직원 시험은 맡지 않기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057400"/>
            <a:ext cx="11475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057400"/>
            <a:ext cx="658368" cy="512064"/>
          </a:xfrm>
          <a:prstGeom prst="rect">
            <a:avLst/>
          </a:prstGeom>
          <a:solidFill>
            <a:srgbClr val="F2F8F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057400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05740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응시할 수 있는 사람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205740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교육과 경력 요건 · 시력검사는 받은 날로부터 1년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633472"/>
            <a:ext cx="11475720" cy="512064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633472"/>
            <a:ext cx="658368" cy="512064"/>
          </a:xfrm>
          <a:prstGeom prst="rect">
            <a:avLst/>
          </a:prstGeom>
          <a:solidFill>
            <a:srgbClr val="F2F8F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263347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263347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시험을 어떻게 짜나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263347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· 전문 · 실기로 나눔 · Level Ⅲ 기초 55, 종목 65 · 종목마다 몇 문제를 낼지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209544"/>
            <a:ext cx="11475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209544"/>
            <a:ext cx="658368" cy="512064"/>
          </a:xfrm>
          <a:prstGeom prst="rect">
            <a:avLst/>
          </a:prstGeom>
          <a:solidFill>
            <a:srgbClr val="F2F8F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20954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20954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면제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320954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ASNT · ISO 9712 소지자는 몇 과목 면제 · 대신 치르는 시험은 80%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785616"/>
            <a:ext cx="11475720" cy="512064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3785616"/>
            <a:ext cx="658368" cy="512064"/>
          </a:xfrm>
          <a:prstGeom prst="rect">
            <a:avLst/>
          </a:prstGeom>
          <a:solidFill>
            <a:srgbClr val="F2F8F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3785616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378561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참고자료와 채점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297680" y="3785616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중 무엇을 볼 수 있나 · 종합은 단순 평균 · 개별 70% 종합 80% · 외부 위탁은 80%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4361688"/>
            <a:ext cx="11475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361688"/>
            <a:ext cx="658368" cy="512064"/>
          </a:xfrm>
          <a:prstGeom prst="rect">
            <a:avLst/>
          </a:prstGeom>
          <a:solidFill>
            <a:srgbClr val="F2F8F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4361688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1371600" y="436168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재시험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4297680" y="4361688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떨어지면 30일 지나서 · 추가 교육 증거가 있으면 앞당길 수 있음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4937760"/>
            <a:ext cx="11475720" cy="512064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4937760"/>
            <a:ext cx="658368" cy="512064"/>
          </a:xfrm>
          <a:prstGeom prst="rect">
            <a:avLst/>
          </a:prstGeom>
          <a:solidFill>
            <a:srgbClr val="F2F8F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6928" y="4937760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1371600" y="493776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자격증과 기록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4297680" y="493776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 조건 · 훈련생에게는 발행 안 함 · 퇴사 뒤 5년 보존 · 자격종료와 복권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66928" y="5513832"/>
            <a:ext cx="11475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" y="5513832"/>
            <a:ext cx="658368" cy="512064"/>
          </a:xfrm>
          <a:prstGeom prst="rect">
            <a:avLst/>
          </a:prstGeom>
          <a:solidFill>
            <a:srgbClr val="F2F8FD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" y="551383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1371600" y="551383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재자격과 능력 평가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4297680" y="5513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기술수행 능력 평가 · 6개월 이상 손 놓으면 자격 정지 · 다시 받는 주기 Ⅰ·Ⅱ 3년, Ⅲ 5년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66928" y="6144768"/>
            <a:ext cx="11475720" cy="512064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2960" y="614476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44개 조항 · 109군데에서 인용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4754880" y="6144768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조항마다 「이건 E01 어디에서 온 것이다」를 달아 두어, 규정이 바뀌면 그 자리만 찾으면 됩니다.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③  화면보다 규정을 먼저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화면부터 만들고 싶은 마음을 눌렀습니다. 규정을 먼저 읽고, 시험지를 옮긴 다음에야 화면을 만들었습니다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4757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09928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709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5727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먼저 읽었습니다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881360" y="16093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88366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자격인정 규정(HIE-QP-E01)를 처음부터 끝까지 읽고, 시험에 관한 조항을 뽑아 표로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만들었습니다. 어느 값이 어디서 오는지 먼저 정리한 것입니다.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450592"/>
            <a:ext cx="114757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79192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420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시험지를 옮겨 담았다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881360" y="2578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7~8월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852928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시험지 49개를 프로그램이 읽을 수 있는 꼴로 바꿨습니다. 그림 28장도 함께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뽑아 냈습니다. 옮긴 뒤 원본과 한 문제씩 맞춰 봤습니다.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419856"/>
            <a:ext cx="114757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648456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5112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문서를 새로 썼다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0881360" y="3547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8월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822192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규정만 있고 시행 규칙이 없었습니다. 필기시험 시행 규칙(E02)과 자격증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발행·관리 규칙(E03)을 지어, 조항마다 E01 어디서 왔는지 달았습니다.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389120"/>
            <a:ext cx="114757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4617720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" y="4617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44805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화면과 채점을 만들었다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881360" y="4517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8월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79145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화면, 채점, 자격 이력, 인쇄까지. 규정 값은 앞에서 정리한 표를 그대로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 넣었습니다.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5358384"/>
            <a:ext cx="114757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" y="5586984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1248" y="5586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544982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검사를 만들어 붙였다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0881360" y="5486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8월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371600" y="576072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때마다 사람이 다 확인할 수 없어, 확인하는 일 자체를 프로그램으로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만들었습니다. 지금 열다섯 가지가 돕니다.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355080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화면부터 만들지 않았습니다. 규정을 먼저 읽고 값을 정리한 뒤에 만들었기 때문에, 나중에 뜯어고칠 일이 없었습니다.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④  문제은행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문제씩 옮겨 담고, 규정이 요구하는 수보다 넉넉히 채웠습니다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7863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64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Ⅱ 일반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17190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9종목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6276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528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7739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08483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종목에 60문제씩 두고, 시험에는 40문제만 내보냅니다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706624"/>
            <a:ext cx="7863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Ⅱ 전문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8895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9종목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27980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9443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25526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종목에 26~45문제를 두고, 시험에는 20~30문제만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877056"/>
            <a:ext cx="7863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005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Ⅲ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40599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기초 + 5종목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9684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567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114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42569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기초 85, 종목 65~107문제씩</a:t>
            </a:r>
            <a:endParaRPr lang="en-US" sz="1250" dirty="0"/>
          </a:p>
        </p:txBody>
      </p:sp>
      <p:pic>
        <p:nvPicPr>
          <p:cNvPr id="22" name="Image 0" descr="docs\shots\16-ban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32520" y="1536192"/>
            <a:ext cx="3310128" cy="219456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8732520" y="1536192"/>
            <a:ext cx="3310128" cy="219456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732520" y="3840480"/>
            <a:ext cx="3310128" cy="1261872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32520" y="3931920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1,369</a:t>
            </a:r>
            <a:endParaRPr lang="en-US" sz="3400" dirty="0"/>
          </a:p>
        </p:txBody>
      </p:sp>
      <p:sp>
        <p:nvSpPr>
          <p:cNvPr id="26" name="Text 23"/>
          <p:cNvSpPr txBox="1"/>
          <p:nvPr/>
        </p:nvSpPr>
        <p:spPr>
          <a:xfrm>
            <a:off x="8732520" y="4590288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· 은행 24개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006840" y="3291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시험지    1,110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지어 채움     259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8732520" y="90525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그림이 들어가는 문제 28개.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66928" y="5230368"/>
            <a:ext cx="11475720" cy="1051560"/>
          </a:xfrm>
          <a:prstGeom prst="rect">
            <a:avLst/>
          </a:prstGeom>
          <a:solidFill>
            <a:srgbClr val="FFF2F2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8680" y="53492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시험지에서 찾아 바로잡은 것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868680" y="56875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 오타 14가지 (Mamgetic → Magnetic 등)   ·   잘못된 정답 4건   ·   겹친 보기 1건   ·   검사절차서 번호 오기 3건   ·   보기가 2~3개뿐이던 86문항을 4지선다로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⑤  문제가 매번 다르다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문제도 보기 차례도 시험마다 바뀝니다. 규정이 그렇게 하라고 정해 두고 있습니다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11475720" cy="1874520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627632"/>
            <a:ext cx="11475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4,200,000,000,000,000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633472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 일반시험 하나에서 만들 수 있는 서로 다른 시험지의 가짓수 — 4,200조 가지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971800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60문제에서 40개를 뽑는 방법만 세어도 이만큼입니다. 여기에 보기 차례까지 섞이니, 같은 시험지가 두 번 나올 일은 사실상 없습니다.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657600"/>
            <a:ext cx="3520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1,369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45537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491947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1,110 + 보강 259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44568" y="3657600"/>
            <a:ext cx="3520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1728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139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681728" y="45537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섞는 보기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81728" y="491947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「위 모두 정답」처럼 자리를 옮기면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안 되는 것은 붙들어 둡니다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522208" y="3657600"/>
            <a:ext cx="3520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59368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219,200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659368" y="45537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 돌려 봤다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659368" y="491947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섞어도 채점이 어긋나지 않는지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돌려 보며 확인했습니다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⑥  규정을 그대로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안의 숫자는 전부 규정에서 가져왔습니다. 제가 마음대로 정한 값은 하나도 없습니다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54583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1645920"/>
            <a:ext cx="50886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표 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1956816"/>
            <a:ext cx="50886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종목별 필기시험 최소 문제 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6812" y="1572768"/>
            <a:ext cx="554583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5412" y="1645920"/>
            <a:ext cx="50886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7.3.4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725412" y="1956816"/>
            <a:ext cx="50886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Ⅲ 기초 55 · 종목 65 · 전문 20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2487168"/>
            <a:ext cx="554583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560320"/>
            <a:ext cx="50886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7.4.4 · 7.4.5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871216"/>
            <a:ext cx="50886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종합은 단순 평균 · 개별 70% 종합 80%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96812" y="2487168"/>
            <a:ext cx="554583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5412" y="2560320"/>
            <a:ext cx="50886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7.3.5 · 7.3.7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25412" y="2871216"/>
            <a:ext cx="50886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ASNT · ISO 9712 소지자 시험 면제, 합격선 80%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3401568"/>
            <a:ext cx="554583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" y="3474720"/>
            <a:ext cx="50886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785616"/>
            <a:ext cx="50886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불합격 재시험은 30일 경과 후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96812" y="3401568"/>
            <a:ext cx="554583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5412" y="3474720"/>
            <a:ext cx="50886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E01 7.9.2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725412" y="3785616"/>
            <a:ext cx="50886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재자격 Level Ⅰ·Ⅱ 3년 · Level Ⅲ 5년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4480560"/>
            <a:ext cx="11475720" cy="1600200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4617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원본과 프로그램을 기계가 맞춰 봅니다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029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자격인정 규정(HIE-QP-E01)의 한글 파일을 프로그램이 직접 읽습니다. 거기 적힌 숫자와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시행 규칙, 그리고 시험 프로그램이 같은 값을 쓰는지 19가지 잣대로 맞춰 봅니다.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인용한 101군데를 원문과 한 줄씩 대조했습니다.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⑦  스스로 검사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때마다 사람이 다 확인할 수는 없었습니다. 그래서 확인하는 일 자체를 프로그램으로 만들었습니다</a:t>
            </a:r>
            <a:endParaRPr lang="en-US" sz="1900" dirty="0"/>
          </a:p>
        </p:txBody>
      </p:sp>
      <p:pic>
        <p:nvPicPr>
          <p:cNvPr id="4" name="Image 0" descr="docs\shots\13-check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89888"/>
            <a:ext cx="667512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89888"/>
            <a:ext cx="6675120" cy="429768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07808" y="1417320"/>
            <a:ext cx="20802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90688" y="1581912"/>
            <a:ext cx="292608" cy="2926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90688" y="1581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156448" y="1581912"/>
            <a:ext cx="1348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90688" y="194767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 24개 1,369문항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962388" y="1417320"/>
            <a:ext cx="20802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145268" y="1581912"/>
            <a:ext cx="292608" cy="2926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145268" y="1581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511028" y="1581912"/>
            <a:ext cx="1348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 섞기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145268" y="194767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219,200회 돌려 확인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07808" y="2606040"/>
            <a:ext cx="20802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90688" y="2770632"/>
            <a:ext cx="292608" cy="2926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90688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156448" y="2770632"/>
            <a:ext cx="1348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겹친 보기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790688" y="313639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문항에 같은 보기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962388" y="2606040"/>
            <a:ext cx="20802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145268" y="2770632"/>
            <a:ext cx="292608" cy="2926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145268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0511028" y="2770632"/>
            <a:ext cx="1348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 · 만료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0145268" y="313639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계산 116가지를 미리 맞춰 둠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607808" y="3794760"/>
            <a:ext cx="20802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90688" y="3959352"/>
            <a:ext cx="292608" cy="2926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790688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156448" y="3959352"/>
            <a:ext cx="1348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대조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790688" y="432511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원본과 숫자가 같은지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9962388" y="3794760"/>
            <a:ext cx="20802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145268" y="3959352"/>
            <a:ext cx="292608" cy="2926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145268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0511028" y="3959352"/>
            <a:ext cx="1348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철자 · 받침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10145268" y="432511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문서 두 건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607808" y="4983480"/>
            <a:ext cx="20802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790688" y="5148072"/>
            <a:ext cx="292608" cy="2926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790688" y="5148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8156448" y="5148072"/>
            <a:ext cx="1348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표가 종이에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7790688" y="551383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쪽을 넘기는 행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962388" y="4983480"/>
            <a:ext cx="20802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145268" y="5148072"/>
            <a:ext cx="292608" cy="2926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10145268" y="5148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10511028" y="5148072"/>
            <a:ext cx="1348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겹치는 조항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10145268" y="551383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말을 두 번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566928" y="5870448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왼쪽은 방금 돌린 결과입니다. 열다섯 가지가 모두 통과합니다 — 문제를 손댈 때마다 다시 돌립니다.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 ⑧  고친 것이 응시자에게 닿기까지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고친 것이 응시자 화면까지 어떻게 가는지, 그리고 푼 결과가 어디에 쌓이는지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692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56232"/>
            <a:ext cx="402336" cy="40233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856232"/>
            <a:ext cx="2563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고친다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3057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컴퓨터에서 문제나 규정 값을 고칩니다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72712" y="233172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0184" y="1600200"/>
            <a:ext cx="35692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76216" y="1856232"/>
            <a:ext cx="402336" cy="40233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76216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97424" y="1856232"/>
            <a:ext cx="2563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올린다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4776216" y="2423160"/>
            <a:ext cx="3057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데가 없는지 검사하고 올립니다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776216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125968" y="233172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73440" y="1600200"/>
            <a:ext cx="3569208" cy="1828800"/>
          </a:xfrm>
          <a:prstGeom prst="rect">
            <a:avLst/>
          </a:prstGeom>
          <a:solidFill>
            <a:srgbClr val="F2FBF5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29472" y="1856232"/>
            <a:ext cx="402336" cy="402336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29472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250680" y="1856232"/>
            <a:ext cx="2563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반영된다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8729472" y="2423160"/>
            <a:ext cx="3057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올리면 2~3분 뒤에 저절로 웹사이트에 붙습니다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729472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749040"/>
            <a:ext cx="35692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005072"/>
            <a:ext cx="402336" cy="40233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44168" y="4005072"/>
            <a:ext cx="2563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푼다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572000"/>
            <a:ext cx="3057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응시자는 주소만 열면 됩니다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166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응시자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172712" y="44805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20184" y="3749040"/>
            <a:ext cx="3569208" cy="1828800"/>
          </a:xfrm>
          <a:prstGeom prst="rect">
            <a:avLst/>
          </a:prstGeom>
          <a:solidFill>
            <a:srgbClr val="F2FBF5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6216" y="4005072"/>
            <a:ext cx="402336" cy="402336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76216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297424" y="4005072"/>
            <a:ext cx="2563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쌓인다</a:t>
            </a:r>
            <a:endParaRPr lang="en-US" sz="2100" dirty="0"/>
          </a:p>
        </p:txBody>
      </p:sp>
      <p:sp>
        <p:nvSpPr>
          <p:cNvPr id="35" name="Text 33"/>
          <p:cNvSpPr txBox="1"/>
          <p:nvPr/>
        </p:nvSpPr>
        <p:spPr>
          <a:xfrm>
            <a:off x="4776216" y="4572000"/>
            <a:ext cx="3057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제출하는 순간 기록이 한 줄 쌓입니다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4776216" y="5166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125968" y="44805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473440" y="3749040"/>
            <a:ext cx="35692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29472" y="4005072"/>
            <a:ext cx="402336" cy="40233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72947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9250680" y="4005072"/>
            <a:ext cx="2563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확인한다</a:t>
            </a:r>
            <a:endParaRPr lang="en-US" sz="2100" dirty="0"/>
          </a:p>
        </p:txBody>
      </p:sp>
      <p:sp>
        <p:nvSpPr>
          <p:cNvPr id="42" name="Text 40"/>
          <p:cNvSpPr txBox="1"/>
          <p:nvPr/>
        </p:nvSpPr>
        <p:spPr>
          <a:xfrm>
            <a:off x="8729472" y="4572000"/>
            <a:ext cx="3057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관리자는 그 자리에서 결과와 자격 이력을 봅니다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8729472" y="5166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66928" y="5989320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서버를 따로 사지 않았습니다. 화면은 깃허브가 공짜로 띄워 주고, 기록은 회사가 이미 쓰는 구글 스프레드시트에 쌓입니다.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찾아낸 것 — 규정과 어긋나 있던 것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옮기려니 규정을 한 줄씩 다시 읽어야 했습니다. 찾으려고 한 것이 아니라, 읽다 보니 드러난 것들입니다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147572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0" y="1938528"/>
            <a:ext cx="1005840" cy="438912"/>
          </a:xfrm>
          <a:prstGeom prst="rect">
            <a:avLst/>
          </a:prstGeom>
          <a:solidFill>
            <a:srgbClr val="E8F7EE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44200" y="193852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고침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68249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TOFD · PAUT 전문시험이 5문항 적게 나갔다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08483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종목을 일반 40 · 전문 25로 못 박아 두고 있었습니다.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37744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E01 표 3은 종목마다 다르다 — TOFD·PAUT·CR·DR·FMC 는 전문 30문항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971800"/>
            <a:ext cx="1147572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355848"/>
            <a:ext cx="1005840" cy="438912"/>
          </a:xfrm>
          <a:prstGeom prst="rect">
            <a:avLst/>
          </a:prstGeom>
          <a:solidFill>
            <a:srgbClr val="E8F7EE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744200" y="335584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고침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09981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Ⅲ 종목시험이 104문항으로 나갔다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50215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출제 수를 정해 두지 않아 은행에 든 것이 전부 나갔습니다.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7947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규정은 65문항, 시험시간 2시간 — 104문항이면 한 문항에 69초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389120"/>
            <a:ext cx="1147572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4773168"/>
            <a:ext cx="1005840" cy="438912"/>
          </a:xfrm>
          <a:prstGeom prst="rect">
            <a:avLst/>
          </a:prstGeom>
          <a:solidFill>
            <a:srgbClr val="E8F7EE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744200" y="47731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고침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51713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회차마다 같은 문제가 나갔다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91947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은행에 든 문항 수가 규정 출제 수와 꼭 같았습니다.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521208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뽑고 말고 할 것이 없으니 있는 대로 다 나갑니다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943600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시험지에서도 영문 오타 14가지 · 잘못된 정답 4건 · 겹친 보기 1건 · 검사절차서 번호 오기 3건을 찾아 바로잡았습니다.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할 수 있는 것과, 규정부터 손봐야 하는 것을 나눠 두었습니다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할 것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6949440" cy="896112"/>
          </a:xfrm>
          <a:prstGeom prst="rect">
            <a:avLst/>
          </a:prstGeom>
          <a:solidFill>
            <a:srgbClr val="FFF2F2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299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준비 상태로 바꾸기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20482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검토하려고 문제가 전부 보이게 해 두었습니다. 시험 전에 무작위로 바꿔야 합니다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944368"/>
            <a:ext cx="69494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540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Ⅲ VT 문제 더 짓기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30723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올해 안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4015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규정이 65문제인데 은행에도 65문제뿐이라, 늘 같은 시험이 나갑니다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968496"/>
            <a:ext cx="69494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07822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비밀번호 옮기기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40965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올해 안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4256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프로그램 안에 들어 있어, 마음먹으면 들여다볼 수 있습니다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992624"/>
            <a:ext cx="69494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10235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요원 명부 시력검사일 채우기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5120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44982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비어 있으면 시력 만료를 셀 수가 없습니다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14813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손봐야 되는 것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818120" y="1920240"/>
            <a:ext cx="4224528" cy="1097280"/>
          </a:xfrm>
          <a:prstGeom prst="rect">
            <a:avLst/>
          </a:prstGeom>
          <a:solidFill>
            <a:srgbClr val="F7F7F7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65008" y="2057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Ⅲ 전문시험도 컴퓨터로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065008" y="24505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규정이 종이로 치도록 정해 두어서, 규정부터 고쳐야 합니다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18120" y="3154680"/>
            <a:ext cx="4224528" cy="1097280"/>
          </a:xfrm>
          <a:prstGeom prst="rect">
            <a:avLst/>
          </a:prstGeom>
          <a:solidFill>
            <a:srgbClr val="F7F7F7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65008" y="3291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실기시험과 실증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065008" y="36850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프로그램은 필기시험까지만 다룹니다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818120" y="4526280"/>
            <a:ext cx="4224528" cy="1463040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65008" y="4663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유지비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065008" y="495604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원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8065008" y="5486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Pages + 구글 시트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회사가 이미 쓰는 것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14476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줄은 실제 시험을 치기 전에 반드시 바꿔야 합니다.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737360"/>
            <a:ext cx="11475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42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사람이 기억하는 대신,</a:t>
            </a:r>
            <a:endParaRPr lang="en-US" sz="42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42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프로그램이 지키게 했습니다.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566928" y="4023360"/>
            <a:ext cx="2594610" cy="1371600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4206240"/>
            <a:ext cx="2320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한 번에 사람이 하던 일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04088" y="4681728"/>
            <a:ext cx="23202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단계  →  3 단계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527298" y="4023360"/>
            <a:ext cx="2594610" cy="1371600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64458" y="4206240"/>
            <a:ext cx="2320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시험을 두 번 쳐도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664458" y="4681728"/>
            <a:ext cx="23202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문제가 다르다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87668" y="4023360"/>
            <a:ext cx="2594610" cy="1371600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4828" y="4206240"/>
            <a:ext cx="2320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만료·시력 만료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624828" y="4681728"/>
            <a:ext cx="23202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프로그램이 먼저 알려 준다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448038" y="4023360"/>
            <a:ext cx="2594610" cy="1371600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85198" y="4206240"/>
            <a:ext cx="2320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규정이 바뀌면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585198" y="4681728"/>
            <a:ext cx="23202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자리만 고치면 된다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669280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하나하나가 규정 어느 조항에서 왔는지 적혀 있습니다. 사 온 것이 아니라 우리가 만든 것이라, 앞으로도 우리 손으로 고쳐 나갈 수 있습니다.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26664" y="2679192"/>
            <a:ext cx="831189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감사합니다.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0"/>
            <a:ext cx="11686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 록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0"/>
            <a:ext cx="1168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방법을 더 알고 싶으신 분을 위해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977640"/>
            <a:ext cx="1168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VS Code 였나  ·  폴더가 이렇게 나뉘어 있다  ·  VS Code 를 이렇게 쓴다  ·  틀리면 어디서 걸리나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①  왜 VS Code 였나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고를 것이 여럿이었는데 이걸 골랐습니다. 까닭이 있습니다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7223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655064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5544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돈이 안 든다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18288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마이크로소프트가 무료로 내놓은 것입니다. 회사가 사 줄 것을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기다릴 필요가 없었습니다. 집에서도 같은 것을 씁니다.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304288"/>
            <a:ext cx="7223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478024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16736" y="23774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PC 에 그냥 깔린다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26517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권한 없이도 깔립니다. 전산에 요청하고 결재를 올릴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없었습니다.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127248"/>
            <a:ext cx="7223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300984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16736" y="32004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한글이 안 깨진다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316736" y="34747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문항도 규정도 우리말입니다. 글자가 깨지면 옮기는 일 자체가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됩니다. 이건 생각보다 중요한 조건이었습니다.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950208"/>
            <a:ext cx="7223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123944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16736" y="40233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사람이 많다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316736" y="4297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 찾아볼 데가 많습니다. 다음 사람이 이어받을 때도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낯선 물건이 아닙니다.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773168"/>
            <a:ext cx="7223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4946904"/>
            <a:ext cx="384048" cy="384048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4672" y="4946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16736" y="48463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창에서 다 된다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1316736" y="5120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고치기 · 명령 넣기 · 바뀐 데 보기가 한 창에 있습니다.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프로그램을 여럿 띄워 오갈 일이 없었습니다.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28432" y="1481328"/>
            <a:ext cx="4014216" cy="3913632"/>
          </a:xfrm>
          <a:prstGeom prst="rect">
            <a:avLst/>
          </a:prstGeom>
          <a:solidFill>
            <a:srgbClr val="F2FBF5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66176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무엇을 안 샀나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66176" y="2103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값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875520" y="2103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원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66176" y="23591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 Code · 쓰는 도구 전부 무료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266176" y="26700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875520" y="26700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원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266176" y="29260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Pages — 회사가 이미 씀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66176" y="32369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875520" y="32369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원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266176" y="3493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 시트 — 회사가 이미 씀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8266176" y="3803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외주비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9875520" y="38039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원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266176" y="40599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짰습니다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266176" y="43708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달마다 나가는 돈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9875520" y="4370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원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8266176" y="46268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없습니다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8028432" y="5504688"/>
            <a:ext cx="4014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들어간 것은 3주라는 시간뿐입니다.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566928" y="6053328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고르는 데 오래 걸리지 않았습니다. 회사 컴퓨터에서 결재 없이 바로 시작할 수 있는 것이 이것뿐이었습니다.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②  폴더가 이렇게 나뉘어 있다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454개를 다섯 자리로 갈라 두었습니다. 무엇을 고칠지에 따라 열 곳이 정해집니다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475720" cy="713232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6093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src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1920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37개 · 16,396줄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6093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화면 · 채점 · 자격 이력 · 인쇄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19019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여기만 고치면 화면이 바뀝니다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304288"/>
            <a:ext cx="11475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2395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tools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7066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137개 · 19,970줄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3957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만들면서 쓴 도구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268833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시험지를 옮기고 틀린 데를 찾는 것들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90672"/>
            <a:ext cx="11475720" cy="713232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31821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public/data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" y="3493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234개 · 21,227줄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31821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문제은행과 검사절차서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34747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1,369개와 절차서 15종이 여기 있습니다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877056"/>
            <a:ext cx="11475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6384" y="39684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" y="42793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31개 · 2,642줄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39684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문서와 화면 그림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426110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E02 · E03 원본이 여기 있습니다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663440"/>
            <a:ext cx="11475720" cy="713232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4754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held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" y="50657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 · 229줄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200400" y="4754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못 채운 문항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200400" y="50474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Ⅲ 승인이 있어야 채울 수 있는 것들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541264"/>
            <a:ext cx="11475720" cy="566928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54126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 파일 454개 · 60,464줄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480560" y="554126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하나를 고치려면 public/data, 화면을 고치려면 src, 규정을 고치려면 docs. 헤맬 일이 없습니다.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272784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도구가 소스보다 많습니다. 옮기고 맞대어 보는 일이 화면을 만드는 일보다 컸다는 뜻입니다.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③  VS Code 를 이렇게 쓴다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가지만 쓸 줄 알면 됩니다. 나머지는 쓰면서 익혔습니다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475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82496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5544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폴더를 통째로 연다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84708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하나가 아니라 프로그램이 든 폴더를 통째로 엽니다.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그래야 왼쪽에 452개가 다 펼쳐지고 서로 오갈 수 있습니다.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89720" y="1682496"/>
            <a:ext cx="2606040" cy="402336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89720" y="168249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→ 폴더 열기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414016"/>
            <a:ext cx="11475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633472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25054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몇 글자로 파일을 찾는다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279806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452개를 눈으로 뒤지지 않습니다. 「hist」만 쳐도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history.js 가 바로 뜹니다. 폴더를 헤맬 일이 없습니다.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89720" y="2633472"/>
            <a:ext cx="2606040" cy="402336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89720" y="26334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Ctrl + 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3364992"/>
            <a:ext cx="11475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584448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34564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452개에서 낱말을 한 번에 찾는다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37490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「Level 2」가 어디어디 쓰였는지 한 번에 훑고,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「Level Ⅱ」로 한꺼번에 바꿉니다. 빠뜨리는 곳이 없습니다.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89720" y="3584448"/>
            <a:ext cx="2606040" cy="402336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89720" y="358444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Ctrl + Shift + F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4315968"/>
            <a:ext cx="11475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535424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53312" y="44074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아래에서 검사 도구를 돌린다</a:t>
            </a:r>
            <a:endParaRPr lang="en-US" sz="1650" dirty="0"/>
          </a:p>
        </p:txBody>
      </p:sp>
      <p:sp>
        <p:nvSpPr>
          <p:cNvPr id="29" name="Text 27"/>
          <p:cNvSpPr txBox="1"/>
          <p:nvPr/>
        </p:nvSpPr>
        <p:spPr>
          <a:xfrm>
            <a:off x="1353312" y="470001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창을 옮기지 않습니다. 화면 아래가 열리고 거기에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명령을 넣으면 결과가 그 자리에 뜹니다.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89720" y="4535424"/>
            <a:ext cx="2606040" cy="402336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89720" y="453542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Ctrl + `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6928" y="5266944"/>
            <a:ext cx="11475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5486400"/>
            <a:ext cx="402336" cy="402336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960" y="5486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353312" y="53583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바뀌었는지 줄 단위로 본다</a:t>
            </a:r>
            <a:endParaRPr lang="en-US" sz="1650" dirty="0"/>
          </a:p>
        </p:txBody>
      </p:sp>
      <p:sp>
        <p:nvSpPr>
          <p:cNvPr id="36" name="Text 34"/>
          <p:cNvSpPr txBox="1"/>
          <p:nvPr/>
        </p:nvSpPr>
        <p:spPr>
          <a:xfrm>
            <a:off x="1353312" y="565099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고친 자리가 초록·빨강으로 표시됩니다. 아니다 싶으면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줄만 되돌립니다. 파일을 통째로 버리지 않습니다.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89720" y="5486400"/>
            <a:ext cx="2606040" cy="402336"/>
          </a:xfrm>
          <a:prstGeom prst="rect">
            <a:avLst/>
          </a:prstGeom>
          <a:solidFill>
            <a:srgbClr val="F2F8FD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89720" y="54864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「소스 제어」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6272784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배우는 데 며칠 걸리지 않았습니다. 어려운 것은 프로그램이 아니라 우리 규정을 정확히 옮기는 일이었습니다.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243584" y="64008"/>
            <a:ext cx="1512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④  틀리면 어디서 걸리나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59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그물을 세 겹으로 쳤습니다. 앞에서 놓쳐도 뒤에서 걸립니다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3581400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00784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 그물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975104"/>
            <a:ext cx="321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고치는 그 순간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14016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 Code 가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798064"/>
            <a:ext cx="321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따옴표를 안 닫으면 글자 색이 그 자리에서 바뀝니다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364992"/>
            <a:ext cx="321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괄호 짝이 안 맞으면 빨간 줄이 그어집니다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931920"/>
            <a:ext cx="321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이름을 잘못 적으면 바로 표시됩니다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14088" y="1517904"/>
            <a:ext cx="3581400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BF8F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96968" y="1700784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8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그물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96968" y="1975104"/>
            <a:ext cx="321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올리기 전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696968" y="2414016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8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도구 15가지가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96968" y="2798064"/>
            <a:ext cx="321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채점이 맞는지 은행 24개를 다 풀어 봅니다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696968" y="3364992"/>
            <a:ext cx="321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규정 원본의 숫자와 프로그램 값을 맞대어 봅니다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696968" y="3931920"/>
            <a:ext cx="321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종이에 넘치는지, 철자가 틀렸는지까지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461248" y="1517904"/>
            <a:ext cx="3581400" cy="411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B0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44128" y="1700784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셋째 그물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644128" y="1975104"/>
            <a:ext cx="321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뒤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644128" y="2414016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0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644128" y="2798064"/>
            <a:ext cx="321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시험 화면을 직접 열어 눈으로 봅니다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644128" y="3364992"/>
            <a:ext cx="321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인쇄를 걸어 종이에 어떻게 나오는지 봅니다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644128" y="3931920"/>
            <a:ext cx="321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이상하면 그 덩이만 되돌립니다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5760720"/>
            <a:ext cx="11475720" cy="603504"/>
          </a:xfrm>
          <a:prstGeom prst="rect">
            <a:avLst/>
          </a:prstGeom>
          <a:solidFill>
            <a:srgbClr val="FFF2F2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576072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놓친 것이 있었습니다 — 규정과 어긋나 있던 셋은 사람이 규정을 다시 읽다가 찾았습니다.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034272" y="64922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(주)한국공업엔지니어링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NDT 자격 필기시험 CBT 구축</dc:title>
  <dc:subject>PptxGenJS Presentation</dc:subject>
  <dc:creator/>
  <cp:lastModifiedBy/>
  <cp:revision>1</cp:revision>
  <dcterms:created xsi:type="dcterms:W3CDTF">2026-08-31T06:56:35Z</dcterms:created>
  <dcterms:modified xsi:type="dcterms:W3CDTF">2026-08-31T06:56:35Z</dcterms:modified>
</cp:coreProperties>
</file>