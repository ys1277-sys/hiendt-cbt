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치르던 사내 자격 필기시험을 프로그램으로 옮겼습니다. 무엇이 달라졌는지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다 사람 손을 거쳤습니다. 그중에서도 마지막 줄, 만료일을 놓치는 것이 가장 마음에 걸렸습니다.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개만 기억하셔도 됩니다. 뒤에서 하나씩 화면으로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응시자가 보는 것은 이 화면 하나입니다. 설명이 필요 없게 만드는 데 시간을 많이 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보기가 두세 개뿐이던 86문항도 모두 넷으로 맞췄습니다. 찍어서 맞힐 확률이 종목마다 다르면 안 되니까요.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시험을 치르는 그 화면에서 그대로 펼쳐집니다. 종이 절차서를 들고 다닐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자격 시험에서 채점이 한 번 어긋나면 되돌리기가 어렵습니다. 그 자리를 아예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화면에 보이는 이름은 예시입니다.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예전에는 이 판정을 사람이 표를 보며 했습니다. 지금은 이 화면 하나가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무엇이 빠졌는지를 적어 보여 줍니다. 사람이 착각해서 합격시킬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만드는 동안 가장 마음에 걸렸던 것이 이 만료일이었습니다. 여기서 놓치면 되돌릴 방법이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10점 차이는 사람이 보면 놓치기 쉽습니다. 면제받은 사람인 줄 모르고 70%로 보면 그대로 잘못 합격시킵니다.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이런 것이 한참 지나 감사에서 나오면 곤란합니다. 그때그때 잡아 두는 편이 낫습니다.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뒤질 것 없이 바로 뽑아 냅니다. 기록은 퇴사 뒤 5년까지 남겨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치르면 남은 시험지를 폐기한 기록도 함께 뽑아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 온 것이 아니라 우리 규정에 맞춰 지은 것입니다. 그래서 규정이 바뀌면 남에게 맡기지 않고 우리가 고칠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그림은 실제로 제가 보던 화면입니다. 지금 열려 있는 파일이 종목마다 몇 문항을 낼지 정해 둔 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네 걸음이 하루에 수백 번 돌았습니다. 빠르게 도니까 겁내지 않고 고칠 수 있었습니다.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제가 없어도 다음 사람이 이어받을 수 있게 두는 것이 마지막까지 신경 쓴 부분입니다.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문제은행이 원본보다 앞서 있습니다. 원본을 고칠 때 이 은행을 근거로 쓰시면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표를 보고 그 자리만 고치면 됩니다. 프로그램 전체를 뒤질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규정을 먼저 읽은 것이 가장 큰 차이였습니다. TOFD·PAUT 문항 수가 어긋난 것도 그때 찾았습니다.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 수와 은행 수가 같으면 뽑을 것이 없어 같은 문제가 나갑니다. 그래서 넉넉히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문제가 새어 나갈 걱정을 덜었습니다. 앞사람 시험지를 봐도 소용이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대조표를 보고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방금 돌린 결과입니다. 꾸며 낸 화면이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고객 감사에서 지적될 수 있는 것이었습니다. 옮기지 않았으면 몰랐습니다.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검토 모드가 지금 켜져 있습니다. 시험 전에 한 줄만 바꾸면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문장만 남겨 드리고 싶습니다.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이랬습니다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시험을 한 번 치르고 나면, 늘 같은 일이 되풀이됐습니다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한글을 열어 시험지부터 만듭니다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회차가 바뀌면 또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뽑아서 응시자 수만큼 복사합니다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대장에 적어 폐기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맞춰 봅니다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하는 일이라 틀릴 수 있습니다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세어 성적표에 옮겨 적습니다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평균은 계산기를 두드려서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꽂아 둡니다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찾으려면 한 장씩 넘겨야 합니다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만료일은 달력에 적어 두고 챙깁니다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놓치면 자격 없이 검사한 셈이 됩니다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게다가 은행에 든 문항 수가 규정이 정한 출제 수와 꼭 같아서, 회차가 바뀌어도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이걸 만들었습니다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 3주 동안 만들었습니다. 사 온 것도, 달마다 나가는 돈도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있던 문항을 하나도 빼지 않고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담고, 모자란 데는 채웠습니다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20184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7344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4,200조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시험지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다릅니다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73440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10600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610600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조항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610600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절차서에서 시험에 관한 것을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하나도 빠뜨리지 않고 옮겼습니다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4088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46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자동 검사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어디를 고쳐도 어긋난 데를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스스로 찾아 줍니다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20184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57344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</a:t>
            </a:r>
            <a:endParaRPr lang="en-US" sz="4600" dirty="0"/>
          </a:p>
        </p:txBody>
      </p:sp>
      <p:sp>
        <p:nvSpPr>
          <p:cNvPr id="22" name="Text 20"/>
          <p:cNvSpPr txBox="1"/>
          <p:nvPr/>
        </p:nvSpPr>
        <p:spPr>
          <a:xfrm>
            <a:off x="4657344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657344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동안 고친 양입니다.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직접 짰습니다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473440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10600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4600" dirty="0"/>
          </a:p>
        </p:txBody>
      </p:sp>
      <p:sp>
        <p:nvSpPr>
          <p:cNvPr id="26" name="Text 24"/>
          <p:cNvSpPr txBox="1"/>
          <p:nvPr/>
        </p:nvSpPr>
        <p:spPr>
          <a:xfrm>
            <a:off x="8610600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610600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사지 않았습니다.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달마다 나가는 돈이 없습니다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옮기는 동안, 우리 규정과 어긋나 있던 곳 셋을 찾아 바로잡았습니다.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①  시작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깔 것이 없습니다. 인터넷 창만 열면 바로 시험장이 됩니다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열립니다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넣고 종목만 고르면 바로 시작합니다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밖에서도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현장이든 출장지든 노트북만 있으면 됩니다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시험도 된다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모자라면 시험지를 뽑아 종이로 칩니다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RT·UT·MT·PT·VT·ECT·RFT·TOFD·PAUT 아홉 종목의 일반시험과 전문시험, 그리고 Level Ⅲ 시험까지 다 들어 있습니다.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②  문제 풀기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영문이라 그대로 두고, 그 아래에 우리말을 나란히 붙였습니다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만큼만 나옵니다. 은행에 60문항이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있어도 그중에서 40개를 뽑습니다.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문항 + 우리말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영문만 놓으면 읽다가 막히고, 우리말만 놓으면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원문과 달라집니다. 그래서 둘 다 보여 줍니다.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번호 ①②③④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2826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차례도 시험마다 섞습니다. 다만 「위 모두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정답」처럼 자리를 옮기면 말이 안 되는 것은 붙들어 둡니다.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78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답이 오른쪽에 쭉 보입니다. 번호를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문항으로 바로 건너뜁니다.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· 이전 · 다음 · 종료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8737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계산기는 화면 안에서 열고 닫습니다. 종료를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사라진다고 먼저 물어봅니다.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푼 문제가 있으면 「풀지 않은 문제가 N개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있습니다」 하고 한 번 더 묻는다.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세 가지 — 넷 중 하나 고르기, 맞는 것 모두 고르기, 답을 직접 써 넣기.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③  검사절차서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전문시험은 우리 장비와 절차를 묻습니다. 그래서 절차서를 옆에 펴 놓고 풀 수 있게 했습니다</a:t>
            </a:r>
            <a:endParaRPr lang="en-US" sz="1900" dirty="0"/>
          </a:p>
        </p:txBody>
      </p:sp>
      <p:pic>
        <p:nvPicPr>
          <p:cNvPr id="4" name="Image 0" descr="docs\shots\14-pr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5895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5895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10종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186537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MT·PT·RT·UT·VT·ECT·RFT·TOFD·PAUT 검사절차서와 자격인정 규정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51460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179장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파일에서 뽑아 그대로 옮긴 그림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56616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96849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넣으면 그 자리로 바로 갑니다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461772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문제에서 바로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502005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 적힌 절차서 이름을 누르면 열립니다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사무실로 찾으러 가지 않아도 됩니다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2362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 양식이 제각각이라 하나로 맞추고, 어색한 번역 문장 58군데를 다시 썼습니다.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④  결과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문항을 풀고 제출을 누르면, 그 자리에서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않습니다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맞춰 볼 일도, 점수를 셀 일도 없습니다.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점수가 나옵니다.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평균도 저절로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과목마다 70%를 넘겨야 하고, 평균은 80%를 넘겨야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합니다. 우리 절차서가 정해 둔 그대로입니다.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문항은 근거와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틀렸는지 그 자리에서 알게 됩니다. 시험이 그대로 공부가 됩니다.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①  누가 몇 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무슨 시험을 쳐서 몇 점을 받았는지, 한 화면에서 다 보입니다</a:t>
            </a:r>
            <a:endParaRPr lang="en-US" sz="1900" dirty="0"/>
          </a:p>
        </p:txBody>
      </p:sp>
      <p:pic>
        <p:nvPicPr>
          <p:cNvPr id="4" name="Image 0" descr="docs\shots\05-adm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31520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31520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924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458200" y="1463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등급 · 종목 · 구분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17556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시험을 쳤는지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92440" y="228600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9244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시작 ~ 종료 · 소요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254203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지켰는지 나중에 짚어 볼 수 있습니다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92440" y="307238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30358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/ 출제 · 점수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58200" y="332841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문항 중 몇 개를 맞혔는지 함께 적힙니다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92440" y="385876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92440" y="3858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458200" y="38221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4114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합격과 불합격은 색으로 갈라 둡니다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92440" y="46451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4645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6085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결과지 출력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490118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회차의 채점결과보고서를 그 자리에서 뽑습니다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0924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924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458200" y="5394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458200" y="56875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사람별로 묶어 보는 화면으로 넘어갑니다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 찾을 수도, 등급이나 검사법으로 걸러 볼 수도 있습니다. 기록은 한곳에 쌓이므로 어느 컴퓨터에서 봐도 같습니다.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②  자격 이력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지금까지 친 시험을 전부 모아, 자격이 지금 어떤 상태인지 알려 줍니다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77724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77724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496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5496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915400" y="146304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시험별 점수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175564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사람이 친 시험을 등급과 종목별로 모읍니다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549640" y="232257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4964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228600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57860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대로 평균을 냅니다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549640" y="3145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49640" y="3145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1089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340156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합격인지, 불합격인지, 아직 덜 끝났는지를 가려 줍니다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549640" y="39684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49640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915400" y="393192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인증일자 · 만료일자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915400" y="42245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쓸 수 있는 자격인지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549640" y="479145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4964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915400" y="475488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5047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있는지, 곧 끝나는지, 이미 끝났는지를 색으로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60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사람이 저마다 다른 경우입니다. 한 사람씩 따라가 보겠습니다.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②  점수를 어떻게 판정하나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과목이라도 70%에 못 미치면 안 되고, 평균은 80%를 넘겨야 합니다</a:t>
            </a:r>
            <a:endParaRPr lang="en-US" sz="1900" dirty="0"/>
          </a:p>
        </p:txBody>
      </p:sp>
      <p:pic>
        <p:nvPicPr>
          <p:cNvPr id="4" name="Image 0" descr="docs\shots\21-박민수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429000"/>
            <a:ext cx="11475720" cy="86868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352044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75 · 전문 80  →  평균 77.5  →  불합격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과목 다 70%는 넘겼습니다. 그런데 평균이 77.5라 80%에 닿지 못했습니다.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과목만 잘 봐서는 자격이 나오지 않습니다.</a:t>
            </a:r>
            <a:endParaRPr lang="en-US" sz="1300" dirty="0"/>
          </a:p>
        </p:txBody>
      </p:sp>
      <p:pic>
        <p:nvPicPr>
          <p:cNvPr id="9" name="Image 1" descr="docs\shots\20-김철수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80560"/>
            <a:ext cx="11475720" cy="1417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4480560"/>
            <a:ext cx="11475720" cy="14173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5943600"/>
            <a:ext cx="11475720" cy="658368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59893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88 · 종목 92 · 전문 「종이 시행」  →  미완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62727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전문시험은 아직 종이로 칩니다. 점수가 들어오지 않았으니 임의로 합격시키지 않고 「미완」으로 둡니다.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③  만료를 먼저 알려 준다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끝난 줄 모르고 검사를 나가면, 고객 감사에서 그대로 지적을 받습니다</a:t>
            </a:r>
            <a:endParaRPr lang="en-US" sz="1900" dirty="0"/>
          </a:p>
        </p:txBody>
      </p:sp>
      <p:pic>
        <p:nvPicPr>
          <p:cNvPr id="4" name="Image 0" descr="docs\shots\22-이영희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2026-09-30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79552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만료되는 달의 마지막 날에 끝납니다.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는 3년, Level Ⅲ 는 5년마다 다시 받습니다.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14088" y="3566160"/>
            <a:ext cx="3581400" cy="192024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4268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상태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4268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33일 전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474268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석 달 안에 드는 순간 색이 바뀝니다.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명단을 뽑아 본인과 부서에 알리면 됩니다.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46124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984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984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2026-04-30 만료</a:t>
            </a:r>
            <a:endParaRPr lang="en-US" sz="2300" dirty="0"/>
          </a:p>
        </p:txBody>
      </p:sp>
      <p:sp>
        <p:nvSpPr>
          <p:cNvPr id="17" name="Text 14"/>
          <p:cNvSpPr txBox="1"/>
          <p:nvPr/>
        </p:nvSpPr>
        <p:spPr>
          <a:xfrm>
            <a:off x="868984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살아 있어도 시력검사가 지나면 잡힙니다.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받은 날로부터 1년입니다.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7150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달력에 적어 두고 사람이 챙겼습니다. 이제는 명단이 저절로 나옵니다.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④  바깥 자격이 있으면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자격이 있으면 몇 과목은 면제받습니다. 대신 치르는 시험의 합격선이 80%로 올라갑니다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71600"/>
            <a:ext cx="11475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 다 같은 자격을 가졌고 같은 전문시험을 쳤습니다. 다른 것은 점수뿐입니다</a:t>
            </a:r>
            <a:endParaRPr lang="en-US" sz="1400" dirty="0"/>
          </a:p>
        </p:txBody>
      </p:sp>
      <p:pic>
        <p:nvPicPr>
          <p:cNvPr id="5" name="Image 0" descr="docs\shots\23-정약용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755648"/>
            <a:ext cx="11475720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55648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361188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6576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75  →  불합격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36758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면제를 받지 않았더라면 70%를 넘겨 붙었을 점수입니다. 면제받은 사람에게는 80%가 기준입니다.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9593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면제받은 과목은 「면제」로 뜨고 옆에 어느 자격으로 면제받았는지가 붙습니다. 안 친 것과 헷갈리지 않게 색을 달리했습니다.</a:t>
            </a:r>
            <a:endParaRPr lang="en-US" sz="1250" dirty="0"/>
          </a:p>
        </p:txBody>
      </p:sp>
      <p:pic>
        <p:nvPicPr>
          <p:cNvPr id="11" name="Image 1" descr="docs\shots\24-강감찬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34840"/>
            <a:ext cx="11475720" cy="17830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4434840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6928" y="6291072"/>
            <a:ext cx="11475720" cy="384048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629107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85  →  필기 합격 · 만료일 2029-08-31 이 저절로 잡힙니다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⑤  규정에 어긋난 것을 잡는다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떨어지면 30일이 지나야 다시 칠 수 있습니다. 그 사이를 세는 일도 사람 몫이었습니다</a:t>
            </a:r>
            <a:endParaRPr lang="en-US" sz="1900" dirty="0"/>
          </a:p>
        </p:txBody>
      </p:sp>
      <p:pic>
        <p:nvPicPr>
          <p:cNvPr id="4" name="Image 0" descr="docs\shots\25-홍길동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30175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4572000"/>
            <a:ext cx="11475720" cy="960120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468172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 UT — 불합격 뒤 18일 만에 다시 쳤습니다. 규정대로면 2026-06-01부터입니다.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교육을 받았다는 증거가 있으면 30일 전에도 칠 수 있습니다. 그런 경우인지 확인해 보라고 짚어 줄 뿐, 프로그램이 막지는 않습니다.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 일반 60점 → 불합격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침 88점 → 합격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105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2026-05-20   18일 뒤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날짜를 일일이 세지 않아도 먼저 짚어 줍니다.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③  서식이 저절로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남기라고 정해 둔 기록 열두 가지가, 시험을 칠 때마다 저절로 쌓입니다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제출할 때마다 그 회차를 다시 세어 갱신합니다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남습니다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④  빈 서식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손으로 채워야 하는 서식 아홉 가지도, 찾아다닐 것 없이 화면에서 바로 뽑습니다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94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자격으로 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 (E01 7.3.5 · 7.3.7)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⑤  종이 시험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모자라거나 정전이 나도 시험은 칩니다. 시험지를 뽑아 종이로 하면 됩니다</a:t>
            </a:r>
            <a:endParaRPr lang="en-US" sz="1900" dirty="0"/>
          </a:p>
        </p:txBody>
      </p:sp>
      <p:pic>
        <p:nvPicPr>
          <p:cNvPr id="4" name="Image 0" descr="docs\shots\11-pap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585216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585216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508760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6294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4630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77393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마크와 이름, 시험 종목, 등급, 쪽 번호가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장에 붙습니다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2441448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02259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갑지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2706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NAME · DATE · Start · Finish · SCORE ·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EXAMINER 기입란과 NOTE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29400" y="3374136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294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33284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22592" y="36393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시험에 무엇을 참고할 수 있는지 밝혀 둡니다.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시험마다 달라서 다섯 갈래로 나눠 두었습니다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29400" y="4306824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22592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워터마크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022592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가운데에 옅게 깝니다.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글씨를 가리지 않을 만큼만 넣었습니다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629400" y="5239512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2940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22592" y="519379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Approved by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022592" y="5504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NDE Level Ⅲ 승인란 (E01 7.4.1)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뽑는 것은 세 가지입니다. 백지 시험지, 응시자가 푼 답안지, 그리고 정답과 근거가 함께 나오는 관리자용.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  직접 짰다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 사 온 것이 아닙니다. 빈 화면에서 시작해 한 줄씩 쌓아 올린 것입니다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494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49440" cy="46177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463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11,027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09760" y="1609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92024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보는 화면과 채점, 자격 이력, 인쇄까지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18,300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509760" y="2450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76148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131개 — 시험지를 옮기고 틀린 데를 찾는 것들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1455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2,100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0976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360273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뽑았을 때의 모양 — 시험지와 답안지, 서식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9867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1,709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444398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지은 규칙 문서 두 건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772400" y="4892040"/>
            <a:ext cx="4279392" cy="11887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28432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 줄을 고쳤습니다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028432" y="5376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23일에 시작해 8월 28일에 지금 모습이 되었습니다.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고쳐서 올린 것만 207번이고, 그 사이에 고친 것은 셀 수 없습니다.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199632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실제 화면입니다. 숫자마다 옆에 「이건 규정 몇 조에서 온 값이다」를 적어 두었습니다.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①-2  화면은 이렇게 생겼습니다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라는 프로그램입니다. 창 하나가 네 칸으로 나뉘어 있습니다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44752"/>
            <a:ext cx="685800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6858000" cy="45262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99248" y="1444752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18704" y="15544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— 파일 목록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18704" y="1865376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 파일이 나무처럼 펼쳐집니다. 시험 화면도,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문제은행도, 규칙 문서도 다 여기 한 창에 있습니다.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99248" y="2596896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18704" y="27066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— 글을 고치는 곳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918704" y="3017520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보이는 것이 실제 파일입니다. 규정에서 온 숫자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 「어느 조항에서 왔는지」를 함께 적어 두었습니다.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99248" y="3749040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18704" y="38587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— 명령을 넣는 칸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918704" y="416966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 둔 검사 도구를 창을 옮기지 않고 그 자리에서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돌립니다. 결과가 바로 아래에 뜹니다.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99248" y="4901184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18704" y="50109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— 시험 화면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918704" y="5321808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것을 저장하는 순간 여기가 다시 그려집니다.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창을 열어 확인할 일이 없습니다.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14476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마이크로소프트가 무료로 내놓은 것입니다. 사는 데 든 돈이 없습니다.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①-3  고치고 · 보고 · 되돌리고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이 네 걸음으로 돌아갔습니다. 한 바퀴가 몇 초입니다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33347" y="1719072"/>
            <a:ext cx="475488" cy="47548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33347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값을 하나 바꾼다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120분으로 두는 줄 하나를 고칩니다.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19354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522726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9145" y="1719072"/>
            <a:ext cx="475488" cy="47548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89145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32454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3632454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저장하면 바로 뜬다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650742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 화면에 시계가 나타납니다. 눈으로 그 자리에서 확인합니다.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149340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78524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44943" y="1719072"/>
            <a:ext cx="475488" cy="475488"/>
          </a:xfrm>
          <a:prstGeom prst="ellipse">
            <a:avLst/>
          </a:prstGeom>
          <a:solidFill>
            <a:srgbClr val="BF8F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44943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588252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6588252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어긋난 데가 없는지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606540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칸에서 검사 도구를 돌립니다. 은행 24개가 다 통과하는지 봅니다.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9105138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34322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500741" y="1719072"/>
            <a:ext cx="475488" cy="475488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500741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544050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남긴다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9544050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고쳤는지 적어서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62338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「시험 화면에 시계를 달았다」처럼 까닭을 적어 한 덩이로 묶어 둡니다.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3895344"/>
            <a:ext cx="11475720" cy="208483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8680" y="405993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한 바퀴가 빨라야 끝까지 갈 수 있었습니다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448056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놓고 화면을 다시 켜서 확인해야 했다면, 하루에 몇 번 못 고쳤을 것입니다.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저장하는 순간 눈앞에서 바뀌니 마음 놓고 고쳐 볼 수 있었습니다. 아니다 싶으면 되돌리면 그만이었습니다.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3주 동안 파일 674개를 건드렸고, 파일을 연 횟수로는 1,780번이 되었습니다.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14476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값 하나를 고치면 시험 화면·인쇄물·자격 이력이 한꺼번에 따라옵니다. 그래서 한 군데만 고치면 됩니다.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①-4  기록이 남아 있습니다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무엇을 왜 고쳤는지 적어 두었습니다. 217덩이가 남아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758952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60934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남아 있는 기록에서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93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1993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인용 98군데를 한 줄씩 원문과 대조 — 틀린 곳 셋을 바로잡음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505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4505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3 을 기계 검사에 넣음 — 원문·규칙·코드 셋을 한자리에서 본다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07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29077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화면에 시계를 달고, 눌러야 할 단추와 아닌 것을 갈랐다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3649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" y="33649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원본 .ai 에서 다시 꺼냈다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221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8221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5.1.5 를 규정 말투로 고치고, 중복된 5.2.4 를 뺌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279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4279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서식을 다듬음 — 쪽이 어색하게 끊기지 않게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412480" y="1481328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31936" y="15910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되돌릴 수 있습니다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31936" y="190195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 고친 것이 있으면 그 덩이만 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됩니다. 처음부터 다시 하지 않습니다.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12480" y="2615184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31936" y="27249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남습니다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631936" y="303580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반년 뒤에 「이 숫자는 왜 이렇게 두었나」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물으면 답이 적혀 있습니다.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412480" y="3749040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31936" y="3858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넘겨줄 수 있습니다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631936" y="416966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사람이 이 기록만 따라 읽어도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왜 그렇게 했는지 알 수 있습니다.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992624"/>
            <a:ext cx="11475720" cy="969264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8680" y="513892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만든 것이지만, 혼자만 아는 것으로 두지 않았습니다.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46811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코드에는 「이 값은 규정 몇 조에서 왔다」를, 기록에는 「왜 이렇게 고쳤다」를 적어 두었습니다.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①-5  한 벌을 옮기는 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「시험지를 옮겼습니다」라고 한 줄로 지나갔는데, 실제로는 이런 일이었습니다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92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166420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답지가 세 가지 꼴이었습니다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202996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49벌을 열어 보니 답을 적어 둔 모양이 제각각이었습니다. 표로 묶은 것,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그린 것, 아래에 각주로 단 것. 읽어 내는 도구를 세 번 다시 짰습니다.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104120" y="186537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/ 49 자동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70662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980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285292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번호가 서로 어긋나 있었습니다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21868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시험지의 번호와 문제은행의 번호가 맞지 않는 데가 있었습니다.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번호로 짝지으면 엉뚱한 답이 붙습니다. 문제 글로 짝지어 맞췄습니다.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104120" y="30540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1,369문항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389534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9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404164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문제가 두 벌에 걸쳐 있었습니다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40740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A형·B형으로 나뉘어 있어 합치면 겹칩니다. 겹친 것을 찾아내는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도구를 따로 만들어 훑었습니다.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104120" y="42428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358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523036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그대로 믿지 않았습니다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81328" y="559612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원본에 적힌 답을 옮기기만 하면 원본의 잘못까지 따라옵니다.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풀어 맞대 보았고, 그러다 영문 오타 14가지를 찾았습니다.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104120" y="54315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오타 14가지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베껴 담는 일인 줄 알았는데, 하다 보니 한 문제씩 맞대어 보는 일이었습니다. 그래서 지금 은행에 든 답은 원본보다 앞서 있습니다.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②  규정을 코드로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절차서를 책상에 펴 놓고, 조항 하나하나가 프로그램의 어느 자리가 될지 짝을 지었습니다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0116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조항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06040" y="1481328"/>
            <a:ext cx="42519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15768" y="148132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정하나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03720" y="1481328"/>
            <a:ext cx="21945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13448" y="148132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파일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0" y="1481328"/>
            <a:ext cx="2907792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53728" y="148132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186537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" y="186537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715768" y="186537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몇 문제를 낼지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13448" y="186537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253728" y="186537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QUESTION_COUNT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" y="224942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715768" y="224942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224942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24942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III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2633472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" y="263347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715768" y="263347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단순 평균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13448" y="263347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253728" y="263347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average()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" y="301752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7.4.5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715768" y="301752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13448" y="301752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253728" y="301752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PASS_EACH / PASS_TOTAL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401568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" y="340156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715768" y="340156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 지나서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13448" y="340156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53728" y="340156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RETAKE_DAYS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" y="378561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715768" y="378561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Ⅰ·Ⅱ 3년 · Ⅲ 5년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013448" y="378561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253728" y="378561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RECERT_YEARS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" y="416966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7.3.2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2715768" y="416966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1년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013448" y="416966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53728" y="416966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EYE_YEARS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76656" y="455371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7.3.5·7.3.7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2715768" y="455371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자격이 있으면 면제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7013448" y="455371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253728" y="455371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exemptKinds()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6656" y="493776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 6.2.1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2715768" y="493776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3개월 전에 알린다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7013448" y="493776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253728" y="493776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WARN_MONTHS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6656" y="532180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7.3.1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2715768" y="532180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섞는다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532180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optionShuffle.js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9253728" y="532180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shuffleOptions()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66928" y="570585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76656" y="570585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5.3.2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2715768" y="570585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 NOTE 다섯 유형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7013448" y="570585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examNote.js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253728" y="570585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examNote()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76656" y="608990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8.0</a:t>
            </a:r>
            <a:endParaRPr lang="en-US" sz="1250" dirty="0"/>
          </a:p>
        </p:txBody>
      </p:sp>
      <p:sp>
        <p:nvSpPr>
          <p:cNvPr id="63" name="Text 61"/>
          <p:cNvSpPr txBox="1"/>
          <p:nvPr/>
        </p:nvSpPr>
        <p:spPr>
          <a:xfrm>
            <a:off x="2715768" y="608990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 아홉 가지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7013448" y="608990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blankForms.jsx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253728" y="608990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BLANK_FORMS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숫자를 아무 데나 적어 두지 않았습니다. 이름을 붙여 한자리에 모으고, 그 옆에 어느 조항에서 온 값인지를 함께 적었습니다.</a:t>
            </a:r>
            <a:endParaRPr lang="en-US" sz="1350" dirty="0"/>
          </a:p>
        </p:txBody>
      </p:sp>
      <p:sp>
        <p:nvSpPr>
          <p:cNvPr id="67" name="Text 6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③  어떤 차례로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만들고 싶은 마음을 눌렀습니다. 규정을 먼저 읽고, 시험지를 옮긴 다음에야 화면을 만들었습니다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992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72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읽었습니다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881360" y="1609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83664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규정(HIE-QP-E01)를 처음부터 끝까지 읽고, 시험에 관한 조항을 뽑아 표로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어느 값이 어디서 오는지 먼저 정리한 것입니다.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7919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5420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옮겨 담았다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2578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7~8월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852928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시험지 49개를 프로그램이 읽을 수 있는 꼴로 바꿨습니다. 그림 28장도 함께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 냈습니다. 옮긴 뒤 원본과 한 문제씩 맞춰 봤습니다.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19856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64845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51129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문서를 새로 썼다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3547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22192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규정만 있고 시행 규칙이 없었습니다. 필기시험 시행 규칙(E02)과 자격증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발행·관리 규칙(E03)을 지어, 조항마다 E01 어디서 왔는지 달았습니다.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4389120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61772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4805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화면과 채점을 만들었다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5171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4791456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화면, 채점, 자격 이력, 인쇄까지. 규정 값은 앞에서 정리한 표를 그대로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넣었습니다.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358384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" y="558698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1248" y="5586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4498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만들어 붙였다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486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5760720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 없어, 확인하는 일 자체를 프로그램으로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지금 열다섯 가지가 돕니다.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만들지 않았습니다. 규정을 먼저 읽고 값을 정리한 뒤에 만들었기 때문에, 나중에 뜯어고칠 일이 없었습니다.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④  문제은행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문제씩 옮겨 담고, 규정이 요구하는 수보다 넉넉히 채웠습니다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190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627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848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60문제씩 두고, 시험에는 40문제만 내보냅니다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전문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798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44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5526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26~45문제를 두고, 시험에는 20~30문제만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77056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0599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+ 5종목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968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567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4256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85, 종목 65~107문제씩</a:t>
            </a:r>
            <a:endParaRPr lang="en-US" sz="1250" dirty="0"/>
          </a:p>
        </p:txBody>
      </p:sp>
      <p:pic>
        <p:nvPicPr>
          <p:cNvPr id="22" name="Image 0" descr="docs\shots\16-ban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1536192"/>
            <a:ext cx="3310128" cy="219456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732520" y="1536192"/>
            <a:ext cx="3310128" cy="2194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732520" y="3840480"/>
            <a:ext cx="3310128" cy="126187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32520" y="3931920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8732520" y="4590288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· 은행 24개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    1,110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지어 채움     259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732520" y="905256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그림이 들어가는 문제 28개.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475720" cy="105156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349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 찾아 바로잡은 것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68680" y="5687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(Mamgetic → Magnetic 등)   ·   잘못된 정답 4건   ·   겹친 보기 1건   ·   검사절차서 번호 오기 3건   ·   보기가 2~3개뿐이던 86문항을 4지선다로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⑤  문제가 매번 다르다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시험마다 바뀝니다. 규정이 그렇게 하라고 정해 두고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하나에서 만들 수 있는 서로 다른 시험지의 가짓수 — 4,200조 가지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60문제에서 40개를 뽑는 방법만 세어도 이만큼입니다. 여기에 보기 차례까지 섞이니, 같은 시험지가 두 번 나올 일은 사실상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섞는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 옮기면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안 되는 것은 붙들어 둡니다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 돌려 봤다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섞어도 채점이 어긋나지 않는지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보며 확인했습니다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⑥  규정을 그대로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안의 숫자는 전부 규정에서 가져왔습니다. 제가 마음대로 정한 값은 하나도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프로그램을 기계가 맞춰 봅니다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규정(HIE-QP-E01)의 한글 파일을 프로그램이 직접 읽습니다. 거기 적힌 숫자와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시행 규칙, 그리고 시험 프로그램이 같은 값을 쓰는지 19가지 잣대로 맞춰 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인용한 101군데를 원문과 한 줄씩 대조했습니다.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⑦  스스로 검사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수는 없었습니다. 그래서 확인하는 일 자체를 프로그램으로 만들었습니다</a:t>
            </a:r>
            <a:endParaRPr lang="en-US" sz="1900" dirty="0"/>
          </a:p>
        </p:txBody>
      </p:sp>
      <p:pic>
        <p:nvPicPr>
          <p:cNvPr id="4" name="Image 0" descr="docs\shots\13-che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6751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67512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0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9068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9068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5644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96238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14526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14526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102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14526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0780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9068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9068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15644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9068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96238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4526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14526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51102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14526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계산 116가지를 미리 맞춰 둠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0780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068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9068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5644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9068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숫자가 같은지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96238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4526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14526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051102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4526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60780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9068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79068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5644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9068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96238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4526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14526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102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14526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587044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방금 돌린 결과입니다. 열다섯 가지가 모두 통과합니다 — 문제를 손댈 때마다 다시 돌립니다.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⑧  어떻게 굴러가나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것이 응시자 화면까지 어떻게 가는지, 그리고 푼 결과가 어디에 쌓이는지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 컴퓨터에서 문제나 규정 값을 고칩니다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데가 없는지 검사하고 올립니다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올리면 2~3분 뒤에 저절로 웹사이트에 붙습니다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응시자는 주소만 열면 됩니다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제출하는 순간 기록이 한 줄 쌓입니다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관리자는 그 자리에서 결과와 자격 이력을 봅니다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사지 않았습니다. 화면은 깃허브가 공짜로 띄워 주고, 기록은 회사가 이미 쓰는 구글 스프레드시트에 쌓입니다.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찾아낸 것 — 규정과 어긋나 있던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옮기려니 규정을 한 줄씩 다시 읽어야 했습니다. 찾으려고 한 것이 아니라, 읽다 보니 드러난 것들입니다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824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5문항 적게 나갔다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종목을 일반 40 · 전문 25로 못 박아 두고 있었습니다.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E01 표 3은 종목마다 다르다 — TOFD·PAUT·CR·DR·FMC 는 전문 30문항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0998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5021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출제 수를 정해 두지 않아 은행에 든 것이 전부 나갔습니다.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79476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규정은 65문항, 시험시간 2시간 — 104문항이면 한 문항에 69초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17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문제가 나갔다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194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든 문항 수가 규정 출제 수와 꼭 같았습니다.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뽑고 말고 할 것이 없으니 있는 대로 다 나갑니다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943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시험지에서도 영문 오타 14가지 · 잘못된 정답 4건 · 겹친 보기 1건 · 검사절차서 번호 오기 3건을 찾아 바로잡았습니다.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할 수 있는 것과, 규정부터 손봐야 하는 것을 나눠 두었습니다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6949440" cy="89611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준비 상태로 바꾸기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검토하려고 문제가 전부 보이게 해 두었습니다. 시험 전에 무작위로 바꿔야 합니다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문제 더 짓기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072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65문제인데 은행에도 65문제뿐이라, 늘 같은 시험이 나갑니다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968496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782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 옮기기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256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프로그램 안에 들어 있어, 마음먹으면 들여다볼 수 있습니다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요원 명부 시력검사일 채우기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있으면 시력 만료를 셀 수가 없습니다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1481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손봐야 되는 것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818120" y="192024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2057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전문시험도 컴퓨터로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65008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치도록 정해 두어서, 규정부터 고쳐야 합니다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315468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6500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3685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프로그램은 필기시험까지만 다룹니다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818120" y="4526280"/>
            <a:ext cx="4224528" cy="146304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46634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65008" y="495604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360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+ 구글 시트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회사가 이미 쓰는 것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44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줄은 실제 시험을 치기 전에 반드시 바꿔야 합니다.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737360"/>
            <a:ext cx="11475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사람이 기억하는 대신,</a:t>
            </a:r>
            <a:endParaRPr lang="en-US" sz="42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지키게 했습니다.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56692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번에 사람이 하던 일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70408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단계  →  3 단계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52729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6445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66445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문제가 다르다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8766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482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만료·시력 만료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2482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먼저 알려 준다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44803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8519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바뀌면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58519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자리만 고치면 된다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692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하나하나가 규정 어느 조항에서 왔는지 적혀 있습니다. 사 온 것이 아니라 우리가 만든 것이라, 앞으로도 우리 손으로 고쳐 나갈 수 있습니다.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2026-08-31T04:53:19Z</dcterms:created>
  <dcterms:modified xsi:type="dcterms:W3CDTF">2026-08-31T04:53:19Z</dcterms:modified>
</cp:coreProperties>
</file>