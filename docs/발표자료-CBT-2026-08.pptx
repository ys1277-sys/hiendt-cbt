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600432" cy="6858000"/>
  <p:notesSz cx="6858000" cy="1260043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사내 NDT 자격 필기시험을 CBT 로 옮긴 결과를 보고드립니다.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여섯 가지가 모두 사람 손이었습니다. 마지막 줄이 가장 큰 문제였습니다.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화면이 전부입니다. 이름 넣고 종목 고르면 시험이 시작됩니다.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보기가 두세 개뿐이던 86문항도 모두 넷으로 맞췄습니다. 찍어서 맞힐 확률이 종목마다 다르면 안 되니까요.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현장에서도 같은 화면에서 절차서를 펴 볼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채점 실수가 자격 시험에서 나오면 되돌리기 어렵습니다.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화면에 보이는 이름은 예시입니다.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여섯 줄이 각각 다른 규정을 보여줍니다. 4번과 5번은 같은 면제자인데 80% 하나로 갈립니다.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감사 때 바로 뽑아 낼 수 있습니다. 기록은 퇴사 후 5년 보존입니다.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서식은 사람이 손으로 채우는 것이지만, 양식을 찾아 헤맬 일은 없앴습니다.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종이로 시행하면 폐기 대장(E02-04)도 함께 뽑습니다.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사서 쓴 것이 아니라 우리 규정에 맞춰 직접 짠 것입니다. 그래서 규정이 바뀌면 우리가 고칠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규정이 개정되면 이 표를 보고 그 자리만 고치면 됩니다. 프로그램 전체를 뒤질 필요가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규정을 먼저 읽은 것이 가장 큰 차이였습니다. TOFD·PAUT 문항 수가 어긋난 것도 그때 찾았습니다.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규정 수와 은행 수가 같으면 뽑을 것이 없어 같은 문제가 나갑니다. 그래서 넉넉히 채웠습니다.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문제 유출을 걱정하지 않아도 됩니다. 조합이 사실상 무한합니다.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규정이 바뀌면 그 자리를 찾아 고치면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왼쪽은 방금 돌린 결과입니다. 꾸며 낸 화면이 아닙니다.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가운데 셋은 손대지 않아도 굴러갑니다.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첫 번째는 고객 감사에서 지적될 수 있는 것이었습니다. 옮기지 않았으면 몰랐습니다.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검토 모드는 지금 켜져 있습니다. 시험 전에 끄면 됩니다 — 한 줄만 바꾸면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질문 받겠습니다.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" y="118872"/>
            <a:ext cx="12399264" cy="548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800"/>
              </a:lnSpc>
              <a:buNone/>
            </a:pPr>
            <a:r>
              <a:rPr lang="en-US" sz="5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NDT 자격 필기시험</a:t>
            </a:r>
            <a:endParaRPr lang="en-US" sz="5400" dirty="0"/>
          </a:p>
          <a:p>
            <a:pPr algn="ctr" indent="0" marL="0">
              <a:lnSpc>
                <a:spcPts val="6800"/>
              </a:lnSpc>
              <a:buNone/>
            </a:pPr>
            <a:r>
              <a:rPr lang="en-US" sz="5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CBT 구축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448056" y="5760720"/>
            <a:ext cx="57515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Made by ○○○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2026.12.__.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WHY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한 번 치는 데 사람이 하던 일 여섯 가지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627632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6276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24128" y="157276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문항을 고르고 한글로 시험지를 만든다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680960" y="1572768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회차마다 처음부터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286000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24128" y="2231136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인쇄하고 응시자 수만큼 복사한다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680960" y="2231136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시험지는 폐기 대장에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2944368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2944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24128" y="2889504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정답지를 옆에 놓고 한 장씩 채점한다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0" y="2889504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하므로 틀릴 수 있다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3602736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66928" y="36027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24128" y="3547872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점수를 계산해 성적표에 옮겨 적는다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0" y="3547872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종합점수는 계산기로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024128" y="4206240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파일철에 보관한다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680960" y="4206240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찾으려면 뒤져야 한다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66928" y="4919472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66928" y="49194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24128" y="486460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만료를 달력에 적어 두고 챙긴다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7680960" y="4864608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놓치면 자격 없이 검사한 것이 된다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566928" y="5623560"/>
            <a:ext cx="11475720" cy="658368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" y="5623560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문제은행에 든 문항이 규정 출제 수와 똑같아, 회차마다 같은 문제가 그대로 나갔습니다.</a:t>
            </a:r>
            <a:endParaRPr lang="en-US" sz="1700" dirty="0"/>
          </a:p>
        </p:txBody>
      </p:sp>
      <p:sp>
        <p:nvSpPr>
          <p:cNvPr id="30" name="Text 2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 화면 ①  시작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인터넷 창만 열면 되는 시험 시스템입니다</a:t>
            </a:r>
            <a:endParaRPr lang="en-US" sz="1900" dirty="0"/>
          </a:p>
        </p:txBody>
      </p:sp>
      <p:pic>
        <p:nvPicPr>
          <p:cNvPr id="4" name="Image 0" descr="docs\shots\01-hom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481328"/>
            <a:ext cx="6766560" cy="42976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481328"/>
            <a:ext cx="6766560" cy="429768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635240" y="16916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설치가 없다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635240" y="207568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주소만 알면 어느 컴퓨터에서든 열린다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7635240" y="27432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로그인이 없다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7635240" y="312724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이름·등급·종목을 고르면 바로 시작</a:t>
            </a:r>
            <a:endParaRPr lang="en-US" sz="1450" dirty="0"/>
          </a:p>
        </p:txBody>
      </p:sp>
      <p:sp>
        <p:nvSpPr>
          <p:cNvPr id="10" name="Text 7"/>
          <p:cNvSpPr txBox="1"/>
          <p:nvPr/>
        </p:nvSpPr>
        <p:spPr>
          <a:xfrm>
            <a:off x="7635240" y="37947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 밖에서도 된다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7635240" y="417880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현장이나 출장지에서 노트북으로 칠 수 있다</a:t>
            </a:r>
            <a:endParaRPr lang="en-US" sz="1450" dirty="0"/>
          </a:p>
        </p:txBody>
      </p:sp>
      <p:sp>
        <p:nvSpPr>
          <p:cNvPr id="12" name="Text 9"/>
          <p:cNvSpPr txBox="1"/>
          <p:nvPr/>
        </p:nvSpPr>
        <p:spPr>
          <a:xfrm>
            <a:off x="7635240" y="48463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 시험도 된다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7635240" y="523036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컴퓨터가 모자라면 시험지를 뽑아 쓴다</a:t>
            </a:r>
            <a:endParaRPr lang="en-US" sz="145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5897880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RT·UT·MT·PT·VT·ECT·RFT·TOFD·PAUT 아홉 종목의 일반시험과 전문시험, 그리고 Level Ⅲ 시험까지 다 들어 있습니다.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 화면 ②  문제 풀기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영문 원문과 우리말을 함께 보여줍니다</a:t>
            </a:r>
            <a:endParaRPr lang="en-US" sz="1900" dirty="0"/>
          </a:p>
        </p:txBody>
      </p:sp>
      <p:pic>
        <p:nvPicPr>
          <p:cNvPr id="4" name="Image 0" descr="docs\shots\02-quiz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6903720" cy="4709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6903720" cy="47091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635240" y="145389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635240" y="14538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001000" y="14173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Question 1/40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1691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정한 40문항만 나온다. 문제은행에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60문항이 들어 있어도 그중에서 40개만 뽑는다.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635240" y="2249424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35240" y="22494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221284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영문 문항 + 우리말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001000" y="248716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시험지가 영문이라 그대로 두고 아래에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우리말을 붙였다. 보기도 두 줄로 같이 보여준다.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7635240" y="3044952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635240" y="3044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001000" y="300837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 번호 ①②③④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001000" y="328269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 차례를 시험마다 섞는다. 다만 「위 모두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정답」 같은 것은 자리를 옮기면 말이 안 되므로 묶어 둔다.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7635240" y="3840480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635240" y="38404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001000" y="380390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답안 표기란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001000" y="4078224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지금까지 고른 답이 오른쪽에 쭉 보인다.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번호를 눌러 그 문항으로 바로 건너뛴다.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7635240" y="4636008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635240" y="4636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8001000" y="459943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계산기 · 이전 · 다음 · 종료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001000" y="487375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계산기는 화면 안에서 열고 닫는다.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종료를 누르면 입력한 답이 사라진다고 먼저 알린다.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7635240" y="543153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635240" y="54315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001000" y="53949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8001000" y="566928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 푼 문제가 있으면 「풀지 않은 문제가 N개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있습니다」 하고 한 번 더 묻는다.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6236208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문제는 세 가지 — 넷 중 하나 고르기, 맞는 것 모두 고르기, 답을 직접 써 넣기.</a:t>
            </a:r>
            <a:endParaRPr lang="en-US" sz="1350" dirty="0"/>
          </a:p>
        </p:txBody>
      </p:sp>
      <p:sp>
        <p:nvSpPr>
          <p:cNvPr id="31" name="Text 2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 화면 ③  절차서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전문시험은 장비와 검사 절차를 묻습니다. 그래서 절차서를 보며 풀 수 있게 했습니다</a:t>
            </a:r>
            <a:endParaRPr lang="en-US" sz="1900" dirty="0"/>
          </a:p>
        </p:txBody>
      </p:sp>
      <p:pic>
        <p:nvPicPr>
          <p:cNvPr id="4" name="Image 0" descr="docs\shots\14-pro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7589520" cy="4709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7589520" cy="47091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412480" y="1463040"/>
            <a:ext cx="3639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10종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412480" y="1865376"/>
            <a:ext cx="3639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검사절차서 아홉과 자격인정절차서 E01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412480" y="2514600"/>
            <a:ext cx="3639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179장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8412480" y="2916936"/>
            <a:ext cx="3639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한글 파일에서 뽑아 그대로 옮긴 그림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412480" y="3566160"/>
            <a:ext cx="3639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찾기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8412480" y="3968496"/>
            <a:ext cx="3639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절차서 안에서 낱말을 넣어 그 자리로 간다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8412480" y="4617720"/>
            <a:ext cx="3639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문항에서 바로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8412480" y="5020056"/>
            <a:ext cx="3639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지시문의 절차서 이름을 누르면 열린다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412480" y="5623560"/>
            <a:ext cx="3639312" cy="47548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412480" y="5623560"/>
            <a:ext cx="3639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사무실로 찾으러 가지 않는다</a:t>
            </a:r>
            <a:endParaRPr lang="en-US" sz="135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6236208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표지 양식이 문서마다 제각각이던 것을 하나로 맞추고, 기계 번역투 58군데를 다시 썼습니다.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 화면 ④  결과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제출과 동시에 점수가 나옵니다</a:t>
            </a:r>
            <a:endParaRPr lang="en-US" sz="1900" dirty="0"/>
          </a:p>
        </p:txBody>
      </p:sp>
      <p:pic>
        <p:nvPicPr>
          <p:cNvPr id="4" name="Image 0" descr="docs\shots\04-resul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463040"/>
            <a:ext cx="6858000" cy="42062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463040"/>
            <a:ext cx="6858000" cy="420624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26680" y="16916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채점하지 않는다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726680" y="2093976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정답지 대조도, 점수 계산도 없다.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시험은 언제 채점해도 같은 점수다.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726680" y="31089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종합점수를 자동으로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7726680" y="3511296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요구되는 시험의 단순 평균.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 70% · 종합 80% (E01 7.4.4·7.4.5)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726680" y="45262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문항과 근거를 함께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7726680" y="4928616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시험이 그대로 교육이 된다.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화면 ①  누가 몇 점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언제 무슨 시험을 쳐서 몇 점을 받았는지 한자리에서 봅니다</a:t>
            </a:r>
            <a:endParaRPr lang="en-US" sz="1900" dirty="0"/>
          </a:p>
        </p:txBody>
      </p:sp>
      <p:pic>
        <p:nvPicPr>
          <p:cNvPr id="4" name="Image 0" descr="docs\shots\05-admi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7315200" cy="4709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7315200" cy="47091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092440" y="149961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92440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458200" y="14630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· 등급 · 종목 · 구분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458200" y="175564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시험을 쳤는지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092440" y="2286000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092440" y="2286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458200" y="2249424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 시작 ~ 종료 · 소요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458200" y="2542032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시험시간을 지켰는지 나중에 확인할 수 있다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92440" y="3072384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092440" y="30723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458200" y="303580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/ 출제 · 점수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458200" y="3328416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 / 27 처럼 몇 문항 중 몇 개인지 함께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8092440" y="3858768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092440" y="38587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458200" y="382219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458200" y="4114800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합격 · 불합격을 색으로 가른다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92440" y="4645152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092440" y="46451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8458200" y="460857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결과지 출력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458200" y="4901184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회차의 채점결과보고서(E02-07)를 뽑는다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8092440" y="543153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8092440" y="54315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458200" y="539496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이력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8458200" y="568756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 단위로 묶어 보는 화면으로 넘어간다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6236208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이름으로 찾거나 등급·검사법으로 거를 수 있습니다. 응시 기록은 구글 시트에 쌓이므로 어느 컴퓨터에서 봐도 같습니다.</a:t>
            </a:r>
            <a:endParaRPr lang="en-US" sz="1350" dirty="0"/>
          </a:p>
        </p:txBody>
      </p:sp>
      <p:sp>
        <p:nvSpPr>
          <p:cNvPr id="31" name="Text 2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화면 ②  자격 이력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한 화면이 여섯 사람의 자격을 판정합니다. 한 줄씩 보겠습니다</a:t>
            </a:r>
            <a:endParaRPr lang="en-US" sz="1900" dirty="0"/>
          </a:p>
        </p:txBody>
      </p:sp>
      <p:pic>
        <p:nvPicPr>
          <p:cNvPr id="4" name="Image 0" descr="docs\shots\06-histor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6903720" cy="4709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6903720" cy="47091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635240" y="1453896"/>
            <a:ext cx="274320" cy="27432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635240" y="14538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001000" y="14173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김철수  </a:t>
            </a:r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RT   </a:t>
            </a:r>
            <a:pPr indent="0" marL="0">
              <a:buNone/>
            </a:pPr>
            <a:r>
              <a:rPr lang="en-US" sz="13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미완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1673352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 88 · 종목 92 · 전문 종이 시행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8001000" y="1874520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전문시험이 아직 종이라 점수가 없다.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임의로 합격 처리하지 않고 「미완」으로 둔다.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635240" y="2249424"/>
            <a:ext cx="274320" cy="274320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635240" y="22494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001000" y="221284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박민수  </a:t>
            </a:r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Ⅱ MT   </a:t>
            </a:r>
            <a:pPr indent="0" marL="0">
              <a:buNone/>
            </a:pPr>
            <a:r>
              <a:rPr lang="en-US" sz="13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불합격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8001000" y="2468880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75 · 전문 80 → 종합 77.5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8001000" y="267004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개별은 둘 다 70%를 넘겼다. 종합이 80%에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못 미쳐 불합격이다. (E01 7.4.5)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635240" y="3044952"/>
            <a:ext cx="274320" cy="274320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635240" y="3044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8001000" y="300837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이영희  </a:t>
            </a:r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Ⅱ PT   </a:t>
            </a:r>
            <a:pPr indent="0" marL="0">
              <a:buNone/>
            </a:pPr>
            <a:r>
              <a:rPr lang="en-US" sz="13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 33일 전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8001000" y="3264408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만료 2026-09-30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8001000" y="3465576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3개월 안에 드는 순간 색이 바뀐다.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시력검사는 이미 만료됐다. (E03 6.2.1)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7635240" y="3840480"/>
            <a:ext cx="274320" cy="274320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635240" y="38404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8001000" y="380390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정수빈  </a:t>
            </a:r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Ⅱ VT   </a:t>
            </a:r>
            <a:pPr indent="0" marL="0">
              <a:buNone/>
            </a:pPr>
            <a:r>
              <a:rPr lang="en-US" sz="13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불합격</a:t>
            </a:r>
            <a:endParaRPr 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8001000" y="4059936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면제 · 전문 75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8001000" y="4261104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ISO 9712 Level Ⅱ 소지자다. 면제받은 사람의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합격선은 80%다 — 75점은 미달. (E01 7.3.7)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7635240" y="4636008"/>
            <a:ext cx="274320" cy="27432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635240" y="4636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001000" y="459943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최윤석  </a:t>
            </a:r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Ⅱ PT   </a:t>
            </a:r>
            <a:pPr indent="0" marL="0">
              <a:buNone/>
            </a:pPr>
            <a:r>
              <a:rPr lang="en-US" sz="135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필기 합격</a:t>
            </a:r>
            <a:endParaRPr lang="en-US" sz="1350" dirty="0"/>
          </a:p>
        </p:txBody>
      </p:sp>
      <p:sp>
        <p:nvSpPr>
          <p:cNvPr id="29" name="Text 26"/>
          <p:cNvSpPr txBox="1"/>
          <p:nvPr/>
        </p:nvSpPr>
        <p:spPr>
          <a:xfrm>
            <a:off x="8001000" y="4855464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면제 · 전문 85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8001000" y="5056632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면제자라도 80%를 넘겨 합격.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만료일 2029-08-31 이 자동으로 잡힌다.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7635240" y="5431536"/>
            <a:ext cx="274320" cy="274320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7635240" y="54315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8001000" y="53949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홍길동  </a:t>
            </a:r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Ⅱ UT   </a:t>
            </a:r>
            <a:pPr indent="0" marL="0">
              <a:buNone/>
            </a:pPr>
            <a:r>
              <a:rPr lang="en-US" sz="13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위반</a:t>
            </a:r>
            <a:endParaRPr lang="en-US" sz="1350" dirty="0"/>
          </a:p>
        </p:txBody>
      </p:sp>
      <p:sp>
        <p:nvSpPr>
          <p:cNvPr id="34" name="Text 31"/>
          <p:cNvSpPr txBox="1"/>
          <p:nvPr/>
        </p:nvSpPr>
        <p:spPr>
          <a:xfrm>
            <a:off x="8001000" y="5650992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불합격 뒤 18일 만에 재응시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8001000" y="5852160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재시험은 30일이 지나야 한다. 화면 아래에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언제부터인지 적어 준다. (E01 7.5)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566928" y="6236208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자격이 만료된 사람이 검사를 나가면 고객 감사에서 바로 지적됩니다. 이제 사람이 기억하지 않아도 됩니다.</a:t>
            </a:r>
            <a:endParaRPr lang="en-US" sz="1350" dirty="0"/>
          </a:p>
        </p:txBody>
      </p:sp>
      <p:sp>
        <p:nvSpPr>
          <p:cNvPr id="37" name="Text 34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화면 ③  서식이 저절로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남기라는 기록 12가지가 구글 스프레드시트에 저절로 쌓입니다</a:t>
            </a:r>
            <a:endParaRPr lang="en-US" sz="1900" dirty="0"/>
          </a:p>
        </p:txBody>
      </p:sp>
      <p:pic>
        <p:nvPicPr>
          <p:cNvPr id="4" name="Image 0" descr="docs\shots\08-repor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71600"/>
            <a:ext cx="5394960" cy="44805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71600"/>
            <a:ext cx="5394960" cy="44805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pic>
        <p:nvPicPr>
          <p:cNvPr id="6" name="Image 1" descr="docs\shots\07-expiry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72200" y="1371600"/>
            <a:ext cx="5394960" cy="448056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172200" y="1371600"/>
            <a:ext cx="5394960" cy="44805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566928" y="594360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E02-07  채점결과보고서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566928" y="623620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제출할 때마다 회차를 다시 세어 갱신</a:t>
            </a:r>
            <a:endParaRPr lang="en-US" sz="1250" dirty="0"/>
          </a:p>
        </p:txBody>
      </p:sp>
      <p:sp>
        <p:nvSpPr>
          <p:cNvPr id="10" name="Text 6"/>
          <p:cNvSpPr txBox="1"/>
          <p:nvPr/>
        </p:nvSpPr>
        <p:spPr>
          <a:xfrm>
            <a:off x="6172200" y="594360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E03-04  자격 만료 예정자 명단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6172200" y="623620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기준일자마다 한 벌씩 쌓인다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화면 ④  빈 서식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손으로 채우는 서식 아홉 가지도 화면에서 바로 뽑습니다</a:t>
            </a:r>
            <a:endParaRPr lang="en-US" sz="1900" dirty="0"/>
          </a:p>
        </p:txBody>
      </p:sp>
      <p:pic>
        <p:nvPicPr>
          <p:cNvPr id="4" name="Image 0" descr="docs\shots\09-for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566160" y="1371600"/>
            <a:ext cx="5486400" cy="4572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566160" y="1371600"/>
            <a:ext cx="5486400" cy="457200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66928" y="157276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E02-01  시행계획서 및 응시자 명단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1975104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E02-02  감독 관리사항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237744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E02-03  응시자 유의사항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2779776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E02-04  시험문제 폐기 대장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3182112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E02-05  부정행위 처리 기록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358444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E02-06  문제은행 접근 기록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566928" y="3986784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E03-02  자격증 재발급 신청서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438912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E03-03  자격증 재발급 대장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4791456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E03-05  자격종료 · 복권 기록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566928" y="53949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9종</a:t>
            </a:r>
            <a:endParaRPr lang="en-US" sz="400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59436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서식 번호가 붙어 있고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늘 최신입니다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9235440" y="201168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바깥 기관 자격으로 면제받는 사람을 적는 칸을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E02-01 에 새로 냈습니다 (E01 7.3.5 · 7.3.7)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화면 ⑤  종이 시험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컴퓨터가 모자라거나 정전일 때는 시험지를 뽑아 종이로 칩니다</a:t>
            </a:r>
            <a:endParaRPr lang="en-US" sz="1900" dirty="0"/>
          </a:p>
        </p:txBody>
      </p:sp>
      <p:pic>
        <p:nvPicPr>
          <p:cNvPr id="4" name="Image 0" descr="docs\shots\11-pap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5852160" cy="4709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5852160" cy="47091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629400" y="1508760"/>
            <a:ext cx="292608" cy="29260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629400" y="15087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022592" y="146304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머리글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022592" y="1773936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 로고와 이름, 시험 종목, NDE Level,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쪽 번호가 모든 장에 붙는다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629400" y="2441448"/>
            <a:ext cx="292608" cy="29260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629400" y="24414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7022592" y="2395728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갑지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7022592" y="2706624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NAME · DATE · Start · Finish · SCORE ·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EXAMINER 기입란과 NOTE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629400" y="3374136"/>
            <a:ext cx="292608" cy="29260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629400" y="33741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7022592" y="3328416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NOTE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7022592" y="3639312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시험에 제공되는 참고자료를 밝힌다.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다섯 유형으로 나눠 두었다 (E02 5.3.2)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6629400" y="4306824"/>
            <a:ext cx="292608" cy="29260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629400" y="43068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7022592" y="4261104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워터마크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7022592" y="457200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 로고를 가운데에 옅게 깐다.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글씨를 가리지 않는 농도로 맞췄다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6629400" y="5239512"/>
            <a:ext cx="292608" cy="29260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629400" y="52395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7022592" y="5193792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Approved by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7022592" y="5504688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NDE Level Ⅲ 승인란 (E01 7.4.1)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6236208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출력은 세 가지 — 시험지(백지) · 응시자가 푼 답안지 · 정답과 근거가 함께 나오는 관리자용.</a:t>
            </a:r>
            <a:endParaRPr lang="en-US" sz="1350" dirty="0"/>
          </a:p>
        </p:txBody>
      </p:sp>
      <p:sp>
        <p:nvSpPr>
          <p:cNvPr id="27" name="Text 24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①  직접 짰다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 온 프로그램이 아닙니다. VS Code 를 열어 한 줄씩 직접 짰습니다</a:t>
            </a:r>
            <a:endParaRPr lang="en-US" sz="1900" dirty="0"/>
          </a:p>
        </p:txBody>
      </p:sp>
      <p:pic>
        <p:nvPicPr>
          <p:cNvPr id="4" name="Image 0" descr="docs\shots\15-cod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6949440" cy="46177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6949440" cy="461772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0" y="146304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11,027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9509760" y="160934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772400" y="1920240"/>
            <a:ext cx="4279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보는 화면, 채점, 자격 이력, 인쇄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304288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18,300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9509760" y="24505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772400" y="2761488"/>
            <a:ext cx="4279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 131개 — 한글 시험지를 옮기고 틀린 데를 찾는다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7772400" y="314553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2,100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9509760" y="32918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0" y="3602736"/>
            <a:ext cx="4279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종이에 뽑을 때의 모양 — 시험지·답안지·서식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7772400" y="3986784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1,709</a:t>
            </a:r>
            <a:endParaRPr lang="en-US" sz="2600" dirty="0"/>
          </a:p>
        </p:txBody>
      </p:sp>
      <p:sp>
        <p:nvSpPr>
          <p:cNvPr id="16" name="Text 13"/>
          <p:cNvSpPr txBox="1"/>
          <p:nvPr/>
        </p:nvSpPr>
        <p:spPr>
          <a:xfrm>
            <a:off x="9509760" y="4133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7772400" y="4443984"/>
            <a:ext cx="4279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필기시험 시행 규칙과 자격증 관리 규칙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7772400" y="4892040"/>
            <a:ext cx="4279392" cy="118872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028432" y="502920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20만 줄을 고쳤습니다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8028432" y="5376672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7월 23일부터 8월 28일까지 3주 동안,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고쳐서 올린 것만 207번. 그 사이 수천 번 고쳤습니다.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566928" y="6199632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 화면은 실제 파일입니다. 숫자 하나하나 옆에 「이건 규정 몇 조에서 온 값이다」를 적어 두었습니다.</a:t>
            </a:r>
            <a:endParaRPr lang="en-US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②  절차서를 코드로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절차서를 펴 놓고, 조항 하나하나를 프로그램의 어느 자리에 넣을지 정했습니다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2011680" cy="38404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76656" y="1481328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조항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606040" y="1481328"/>
            <a:ext cx="4251960" cy="38404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715768" y="1481328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정하나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903720" y="1481328"/>
            <a:ext cx="2194560" cy="38404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013448" y="1481328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파일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9144000" y="1481328"/>
            <a:ext cx="2907792" cy="38404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253728" y="1481328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값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66928" y="1865376"/>
            <a:ext cx="11484864" cy="38404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76656" y="1865376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표 3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2715768" y="1865376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종목마다 몇 문제를 낼지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013448" y="1865376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ExamData.jsx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253728" y="1865376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QUESTION_COUNT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76656" y="2249424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7.3.4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2715768" y="2249424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기초 55 · 종목 65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013448" y="2249424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ExamData.jsx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253728" y="2249424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III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66928" y="2633472"/>
            <a:ext cx="11484864" cy="38404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76656" y="2633472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7.4.4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2715768" y="2633472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종합점수는 단순 평균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013448" y="2633472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9253728" y="2633472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average()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76656" y="3017520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7.4.5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2715768" y="3017520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 70% · 종합 80%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013448" y="3017520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9253728" y="3017520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PASS_EACH / PASS_TOTAL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66928" y="3401568"/>
            <a:ext cx="11484864" cy="38404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76656" y="3401568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7.5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2715768" y="3401568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재시험은 30일 지나서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7013448" y="3401568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9253728" y="3401568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RETAKE_DAYS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76656" y="3785616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7.9.2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2715768" y="3785616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재자격 Ⅰ·Ⅱ 3년 · Ⅲ 5년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7013448" y="3785616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9253728" y="3785616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RECERT_YEARS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66928" y="4169664"/>
            <a:ext cx="11484864" cy="38404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76656" y="4169664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7.3.2</a:t>
            </a:r>
            <a:endParaRPr lang="en-US" sz="1250" dirty="0"/>
          </a:p>
        </p:txBody>
      </p:sp>
      <p:sp>
        <p:nvSpPr>
          <p:cNvPr id="41" name="Text 39"/>
          <p:cNvSpPr txBox="1"/>
          <p:nvPr/>
        </p:nvSpPr>
        <p:spPr>
          <a:xfrm>
            <a:off x="2715768" y="4169664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시력검사는 1년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7013448" y="4169664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9253728" y="4169664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EYE_YEARS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676656" y="4553712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7.3.5·7.3.7</a:t>
            </a:r>
            <a:endParaRPr lang="en-US" sz="1250" dirty="0"/>
          </a:p>
        </p:txBody>
      </p:sp>
      <p:sp>
        <p:nvSpPr>
          <p:cNvPr id="45" name="Text 43"/>
          <p:cNvSpPr txBox="1"/>
          <p:nvPr/>
        </p:nvSpPr>
        <p:spPr>
          <a:xfrm>
            <a:off x="2715768" y="4553712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바깥 자격이 있으면 면제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7013448" y="4553712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9253728" y="4553712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exemptKinds()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566928" y="4937760"/>
            <a:ext cx="11484864" cy="38404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76656" y="4937760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E03 6.2.1</a:t>
            </a:r>
            <a:endParaRPr lang="en-US" sz="1250" dirty="0"/>
          </a:p>
        </p:txBody>
      </p:sp>
      <p:sp>
        <p:nvSpPr>
          <p:cNvPr id="50" name="Text 48"/>
          <p:cNvSpPr txBox="1"/>
          <p:nvPr/>
        </p:nvSpPr>
        <p:spPr>
          <a:xfrm>
            <a:off x="2715768" y="4937760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 3개월 전에 알린다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7013448" y="4937760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9253728" y="4937760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WARN_MONTHS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676656" y="5321808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 7.3.1</a:t>
            </a:r>
            <a:endParaRPr lang="en-US" sz="1250" dirty="0"/>
          </a:p>
        </p:txBody>
      </p:sp>
      <p:sp>
        <p:nvSpPr>
          <p:cNvPr id="54" name="Text 52"/>
          <p:cNvSpPr txBox="1"/>
          <p:nvPr/>
        </p:nvSpPr>
        <p:spPr>
          <a:xfrm>
            <a:off x="2715768" y="5321808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 차례를 시험마다 섞는다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7013448" y="5321808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optionShuffle.js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9253728" y="5321808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shuffleOptions()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566928" y="5705856"/>
            <a:ext cx="11484864" cy="38404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676656" y="5705856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 5.3.2</a:t>
            </a:r>
            <a:endParaRPr lang="en-US" sz="1250" dirty="0"/>
          </a:p>
        </p:txBody>
      </p:sp>
      <p:sp>
        <p:nvSpPr>
          <p:cNvPr id="59" name="Text 57"/>
          <p:cNvSpPr txBox="1"/>
          <p:nvPr/>
        </p:nvSpPr>
        <p:spPr>
          <a:xfrm>
            <a:off x="2715768" y="5705856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시험지 NOTE 다섯 유형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7013448" y="5705856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examNote.js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9253728" y="5705856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examNote()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676656" y="6089904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 8.0</a:t>
            </a:r>
            <a:endParaRPr lang="en-US" sz="1250" dirty="0"/>
          </a:p>
        </p:txBody>
      </p:sp>
      <p:sp>
        <p:nvSpPr>
          <p:cNvPr id="63" name="Text 61"/>
          <p:cNvSpPr txBox="1"/>
          <p:nvPr/>
        </p:nvSpPr>
        <p:spPr>
          <a:xfrm>
            <a:off x="2715768" y="6089904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서식 아홉 가지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7013448" y="6089904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blankForms.jsx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9253728" y="6089904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BLANK_FORMS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566928" y="6309360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숫자를 코드 안에 그냥 적어 두지 않았습니다. 이름을 붙여 한자리에 모으고, 그 옆에 「이건 규정 몇 조에서 온 값이다」를 적었습니다.</a:t>
            </a:r>
            <a:endParaRPr lang="en-US" sz="1350" dirty="0"/>
          </a:p>
        </p:txBody>
      </p:sp>
      <p:sp>
        <p:nvSpPr>
          <p:cNvPr id="67" name="Text 65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③  어떤 차례로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규정을 먼저 읽고, 시험지를 옮기고, 그 다음에 화면을 만들었습니다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114757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709928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17099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1572768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규정을 먼저 읽었다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0881360" y="160934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7월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1883664"/>
            <a:ext cx="9326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자격인정 절차서(E01)를 처음부터 끝까지 읽고, 시험에 관한 조항을 뽑아 표로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만들었습니다. 어느 값이 어디서 오는지 먼저 정리한 것입니다.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2450592"/>
            <a:ext cx="114757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1248" y="2679192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41248" y="26791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254203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 시험지를 옮겨 담았다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0881360" y="257860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7~8월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2852928"/>
            <a:ext cx="9326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한글 시험지 49개를 프로그램이 읽을 수 있는 꼴로 바꿨습니다. 그림 28장도 함께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뽑아 냈습니다. 옮긴 뒤 원본과 한 문제씩 맞춰 봤습니다.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3419856"/>
            <a:ext cx="114757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41248" y="3648456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41248" y="36484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3511296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문서를 새로 썼다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10881360" y="35478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8월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3822192"/>
            <a:ext cx="9326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을 시행하려면 세부 규칙이 있어야 했습니다. 필기시험 시행 규칙(E02)과 자격증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발행·관리 규칙(E03)을 지어, 조항마다 E01 어디서 왔는지 달았습니다.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66928" y="4389120"/>
            <a:ext cx="114757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41248" y="4617720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41248" y="46177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1371600" y="448056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화면과 채점을 만들었다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10881360" y="451713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8월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371600" y="4791456"/>
            <a:ext cx="9326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화면, 채점, 자격 이력, 인쇄까지. 규정 값은 앞에서 정리한 표를 그대로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옮겨 넣었습니다.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66928" y="5358384"/>
            <a:ext cx="114757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41248" y="5586984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41248" y="55869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371600" y="544982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검사를 만들어 붙였다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10881360" y="54864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8월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1371600" y="5760720"/>
            <a:ext cx="9326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고칠 때마다 사람이 다 확인할 수 없어, 확인하는 일 자체를 프로그램으로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만들었습니다. 지금 열다섯 가지가 돕니다.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6355080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화면부터 만들지 않았습니다. 규정을 먼저 읽고 값을 정리한 뒤에 만들었기 때문에, 나중에 뜯어고칠 일이 없었습니다.</a:t>
            </a:r>
            <a:endParaRPr lang="en-US" sz="1350" dirty="0"/>
          </a:p>
        </p:txBody>
      </p:sp>
      <p:sp>
        <p:nvSpPr>
          <p:cNvPr id="35" name="Text 33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④  문제은행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 시험지를 한 문제씩 옮겨 담고, 규정이 요구하는 수보다 넉넉히 채웠습니다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36192"/>
            <a:ext cx="78638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6642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Ⅱ 일반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3611880" y="171907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9종목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5029200" y="162763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528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6446520" y="1773936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08483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종목에 60문제씩. 시험에는 40문제만 나간다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2706624"/>
            <a:ext cx="78638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2834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Ⅱ 전문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3611880" y="288950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9종목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0" y="2798064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274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29443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325526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종목에 26~45문제. 시험에는 20~30문제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3877056"/>
            <a:ext cx="78638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8680" y="400507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3611880" y="405993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 + 5종목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5029200" y="396849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567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6446520" y="41148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4425696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 85, 종목 65~107문제씩</a:t>
            </a:r>
            <a:endParaRPr lang="en-US" sz="1250" dirty="0"/>
          </a:p>
        </p:txBody>
      </p:sp>
      <p:pic>
        <p:nvPicPr>
          <p:cNvPr id="22" name="Image 0" descr="docs\shots\16-ban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732520" y="1536192"/>
            <a:ext cx="3310128" cy="2194560"/>
          </a:xfrm>
          <a:prstGeom prst="rect">
            <a:avLst/>
          </a:prstGeom>
        </p:spPr>
      </p:pic>
      <p:sp>
        <p:nvSpPr>
          <p:cNvPr id="23" name="Shape 20"/>
          <p:cNvSpPr/>
          <p:nvPr/>
        </p:nvSpPr>
        <p:spPr>
          <a:xfrm>
            <a:off x="8732520" y="1536192"/>
            <a:ext cx="3310128" cy="21945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732520" y="3840480"/>
            <a:ext cx="3310128" cy="1261872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732520" y="3931920"/>
            <a:ext cx="33101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1,369</a:t>
            </a:r>
            <a:endParaRPr lang="en-US" sz="3400" dirty="0"/>
          </a:p>
        </p:txBody>
      </p:sp>
      <p:sp>
        <p:nvSpPr>
          <p:cNvPr id="26" name="Text 23"/>
          <p:cNvSpPr txBox="1"/>
          <p:nvPr/>
        </p:nvSpPr>
        <p:spPr>
          <a:xfrm>
            <a:off x="8732520" y="4590288"/>
            <a:ext cx="3310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 · 은행 24개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9006840" y="329184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시험지    1,110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새로 지어 채움     259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8732520" y="9052560"/>
            <a:ext cx="2743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그림이 들어가는 문제 28개.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566928" y="5230368"/>
            <a:ext cx="11475720" cy="1051560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68680" y="5349240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시험지에서 찾아 바로잡은 것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868680" y="5687568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영문 오타 14가지 (Mamgetic → Magnetic 등)   ·   잘못된 정답 4건   ·   겹친 보기 1건   ·   절차서 번호 오기 3건 (ET-P11 → ET-P99)   ·   보기가 2~3개뿐이던 86문항을 4지선다로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⑤  문제가 매번 다르다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문제와 보기 차례를 시험마다 바꿉니다 — 규정이 그렇게 하라고 정하고 있습니다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08760"/>
            <a:ext cx="11475720" cy="187452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627632"/>
            <a:ext cx="11475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4,200,000,000,000,000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633472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MT 일반시험 하나에서 만들 수 있는 서로 다른 시험지의 가짓수 — 4,200조 가지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971800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60문제 중에 40개를 뽑는 방법이 이만큼입니다. 여기에 보기 차례까지 섞으니, 같은 시험지가 두 번 나올 일이 없습니다.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3657600"/>
            <a:ext cx="35204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04088" y="38404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1,369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704088" y="4553712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04088" y="4919472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1,110 + 보강 259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44568" y="3657600"/>
            <a:ext cx="35204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81728" y="38404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139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4681728" y="4553712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 섞는 보기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681728" y="4919472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「위 모두 정답」처럼 자리를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옮기면 말이 안 되는 것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522208" y="3657600"/>
            <a:ext cx="35204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59368" y="38404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219,200</a:t>
            </a:r>
            <a:endParaRPr lang="en-US" sz="3400" dirty="0"/>
          </a:p>
        </p:txBody>
      </p:sp>
      <p:sp>
        <p:nvSpPr>
          <p:cNvPr id="18" name="Text 16"/>
          <p:cNvSpPr txBox="1"/>
          <p:nvPr/>
        </p:nvSpPr>
        <p:spPr>
          <a:xfrm>
            <a:off x="8659368" y="4553712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번 돌려 봤다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659368" y="4919472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보기를 섞어도 채점이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어긋나지 않는지 확인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⑥  규정을 그대로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프로그램 안의 숫자는 전부 규정에서 가져온 것입니다. 제가 정한 것이 없습니다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95528" y="16459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표 3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19568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종목별 필기시험 최소 문제 수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96812" y="15727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725412" y="16459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7.3.4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725412" y="19568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기초 55 · 종목 65 · 전문 20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24871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95528" y="25603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7.4.4 · 7.4.5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95528" y="28712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종합은 단순 평균 · 개별 70% 종합 80%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96812" y="24871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725412" y="25603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7.3.5 · 7.3.7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725412" y="28712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ASNT · ISO 9712 소지자 시험 면제, 합격선 80%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66928" y="34015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95528" y="34747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7.5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795528" y="37856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불합격 재시험은 30일 경과 후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496812" y="34015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25412" y="34747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7.9.2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725412" y="37856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재자격 Level Ⅰ·Ⅱ 3년 · Level Ⅲ 5년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66928" y="4480560"/>
            <a:ext cx="11475720" cy="160020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14400" y="46177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원본과 프로그램을 기계가 맞춰 봅니다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914400" y="502920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자격인정 절차서(HIE-QP-E01)의 한글 파일을 프로그램이 직접 읽습니다. 거기 적힌 숫자와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규칙 문서, 그리고 시험 프로그램이 같은 값을 쓰는지 19가지 잣대로 맞춰 봅니다.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규정을 인용한 101군데를 원문과 한 줄씩 대조했습니다.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⑦  스스로 검사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문제를 하나라도 고치면, 어디가 틀어졌는지 프로그램이 스스로 찾아냅니다</a:t>
            </a:r>
            <a:endParaRPr lang="en-US" sz="1900" dirty="0"/>
          </a:p>
        </p:txBody>
      </p:sp>
      <p:pic>
        <p:nvPicPr>
          <p:cNvPr id="4" name="Image 0" descr="docs\shots\13-check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6675120" cy="42976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6675120" cy="429768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607808" y="141732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790688" y="158191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790688" y="1581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156448" y="158191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채점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790688" y="194767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은행 24개 1,369문항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9962388" y="141732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0145268" y="158191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0145268" y="1581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10511028" y="158191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 섞기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0145268" y="194767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219,200회 돌려 확인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607808" y="260604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90688" y="277063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7790688" y="27706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8156448" y="277063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겹친 보기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790688" y="313639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문항에 같은 보기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9962388" y="260604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145268" y="277063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10145268" y="27706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10511028" y="277063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이력 · 만료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10145268" y="313639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 계산 116가지를 미리 맞춰 둠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7607808" y="379476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790688" y="395935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7790688" y="39593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8156448" y="395935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대조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7790688" y="432511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원본과 숫자가 같은지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9962388" y="379476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0145268" y="395935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10145268" y="39593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10511028" y="395935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철자 · 받침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10145268" y="432511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문서 두 건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7607808" y="498348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7790688" y="514807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7790688" y="51480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8156448" y="514807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표가 종이에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7790688" y="551383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쪽을 넘기는 행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9962388" y="498348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10145268" y="514807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10145268" y="51480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44" name="Text 41"/>
          <p:cNvSpPr txBox="1"/>
          <p:nvPr/>
        </p:nvSpPr>
        <p:spPr>
          <a:xfrm>
            <a:off x="10511028" y="514807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겹치는 조항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10145268" y="551383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말을 두 번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566928" y="5870448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왼쪽은 방금 돌린 결과입니다. 열다섯 가지가 모두 통과합니다 — 문제를 손댈 때마다 다시 돌립니다.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⑧  어떻게 굴러가나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고친 것이 응시자 화면까지 어떻게 가는지, 푼 결과가 어디에 쌓이는지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600200"/>
            <a:ext cx="356920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56232"/>
            <a:ext cx="402336" cy="40233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856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44168" y="185623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고친다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42316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컴퓨터에서 문제나 규정 값을 고친다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017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172712" y="233172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20184" y="1600200"/>
            <a:ext cx="356920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76216" y="1856232"/>
            <a:ext cx="402336" cy="40233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776216" y="1856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297424" y="185623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올린다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4776216" y="242316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데가 없는지 검사하고 인터넷에 올린다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4776216" y="3017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125968" y="233172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473440" y="1600200"/>
            <a:ext cx="3569208" cy="1828800"/>
          </a:xfrm>
          <a:prstGeom prst="rect">
            <a:avLst/>
          </a:prstGeom>
          <a:solidFill>
            <a:srgbClr val="F2FBF5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29472" y="1856232"/>
            <a:ext cx="402336" cy="402336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729472" y="1856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9250680" y="185623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반영된다</a:t>
            </a:r>
            <a:endParaRPr lang="en-US" sz="2100" dirty="0"/>
          </a:p>
        </p:txBody>
      </p:sp>
      <p:sp>
        <p:nvSpPr>
          <p:cNvPr id="22" name="Text 20"/>
          <p:cNvSpPr txBox="1"/>
          <p:nvPr/>
        </p:nvSpPr>
        <p:spPr>
          <a:xfrm>
            <a:off x="8729472" y="242316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올리면 저절로 웹사이트에 붙는다 — 2~3분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8729472" y="3017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66928" y="3749040"/>
            <a:ext cx="356920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2960" y="4005072"/>
            <a:ext cx="402336" cy="40233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22960" y="4005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1344168" y="400507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푼다</a:t>
            </a:r>
            <a:endParaRPr lang="en-US" sz="2100" dirty="0"/>
          </a:p>
        </p:txBody>
      </p:sp>
      <p:sp>
        <p:nvSpPr>
          <p:cNvPr id="28" name="Text 26"/>
          <p:cNvSpPr txBox="1"/>
          <p:nvPr/>
        </p:nvSpPr>
        <p:spPr>
          <a:xfrm>
            <a:off x="822960" y="457200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응시자가 주소를 열어 시험을 친다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822960" y="51663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172712" y="44805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520184" y="3749040"/>
            <a:ext cx="3569208" cy="1828800"/>
          </a:xfrm>
          <a:prstGeom prst="rect">
            <a:avLst/>
          </a:prstGeom>
          <a:solidFill>
            <a:srgbClr val="F2FBF5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76216" y="4005072"/>
            <a:ext cx="402336" cy="402336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776216" y="4005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5297424" y="400507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쌓인다</a:t>
            </a:r>
            <a:endParaRPr lang="en-US" sz="2100" dirty="0"/>
          </a:p>
        </p:txBody>
      </p:sp>
      <p:sp>
        <p:nvSpPr>
          <p:cNvPr id="35" name="Text 33"/>
          <p:cNvSpPr txBox="1"/>
          <p:nvPr/>
        </p:nvSpPr>
        <p:spPr>
          <a:xfrm>
            <a:off x="4776216" y="457200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제출하면 구글 스프레드시트에 한 줄이 쌓인다</a:t>
            </a:r>
            <a:endParaRPr lang="en-US" sz="1350" dirty="0"/>
          </a:p>
        </p:txBody>
      </p:sp>
      <p:sp>
        <p:nvSpPr>
          <p:cNvPr id="36" name="Text 34"/>
          <p:cNvSpPr txBox="1"/>
          <p:nvPr/>
        </p:nvSpPr>
        <p:spPr>
          <a:xfrm>
            <a:off x="4776216" y="51663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8125968" y="44805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8473440" y="3749040"/>
            <a:ext cx="356920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729472" y="4005072"/>
            <a:ext cx="402336" cy="40233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8729472" y="4005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9250680" y="400507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확인한다</a:t>
            </a:r>
            <a:endParaRPr lang="en-US" sz="2100" dirty="0"/>
          </a:p>
        </p:txBody>
      </p:sp>
      <p:sp>
        <p:nvSpPr>
          <p:cNvPr id="42" name="Text 40"/>
          <p:cNvSpPr txBox="1"/>
          <p:nvPr/>
        </p:nvSpPr>
        <p:spPr>
          <a:xfrm>
            <a:off x="8729472" y="457200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관리자가 결과와 자격 이력을 본다</a:t>
            </a:r>
            <a:endParaRPr lang="en-US" sz="1350" dirty="0"/>
          </a:p>
        </p:txBody>
      </p:sp>
      <p:sp>
        <p:nvSpPr>
          <p:cNvPr id="43" name="Text 41"/>
          <p:cNvSpPr txBox="1"/>
          <p:nvPr/>
        </p:nvSpPr>
        <p:spPr>
          <a:xfrm>
            <a:off x="8729472" y="51663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566928" y="5989320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서버를 따로 사지 않았습니다. 화면은 깃허브가 공짜로 띄워 주고, 기록은 회사가 이미 쓰는 구글 스프레드시트에 쌓입니다.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찾아낸 것 — 규정과 어긋나 있던 것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옮기려면 규정을 한 줄씩 다시 읽어야 했습니다. 그러다 드러난 것들입니다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11475720" cy="12252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44200" y="1938528"/>
            <a:ext cx="1005840" cy="438912"/>
          </a:xfrm>
          <a:prstGeom prst="rect">
            <a:avLst/>
          </a:prstGeom>
          <a:solidFill>
            <a:srgbClr val="E8F7EE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744200" y="1938528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고침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1682496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TOFD · PAUT 전문시험이 5문항 적게 나갔다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084832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종목을 일반 40 · 전문 25로 못 박아 두었다.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377440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E01 표 3은 종목마다 다르다 — TOFD·PAUT·CR·DR·FMC 는 전문 30문항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2971800"/>
            <a:ext cx="11475720" cy="12252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744200" y="3355848"/>
            <a:ext cx="1005840" cy="438912"/>
          </a:xfrm>
          <a:prstGeom prst="rect">
            <a:avLst/>
          </a:prstGeom>
          <a:solidFill>
            <a:srgbClr val="E8F7EE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744200" y="3355848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고침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68680" y="3099816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종목시험이 104문항으로 나갔다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3502152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출제 수를 정하지 않아 은행 전체가 나갔다.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3794760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규정은 65문항, 시험시간 2시간 — 104문항이면 한 문항에 69초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4389120"/>
            <a:ext cx="11475720" cy="12252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744200" y="4773168"/>
            <a:ext cx="1005840" cy="438912"/>
          </a:xfrm>
          <a:prstGeom prst="rect">
            <a:avLst/>
          </a:prstGeom>
          <a:solidFill>
            <a:srgbClr val="E8F7EE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744200" y="4773168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고침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4517136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회차마다 같은 문제가 나갔다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868680" y="4919472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은행에 든 문항이 규정 출제 수와 똑같았다.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5212080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뽑을 것이 없으니 있는 문항이 전부 나간다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66928" y="5943600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시험지에서도 영문 오타 14가지 · 잘못된 정답 4건 · 겹친 보기 1건 · 절차서 번호 오기 3건을 찾아 바로잡았습니다.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앞으로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바로 할 수 있는 것과, 규정부터 고쳐야 하는 것을 나눴습니다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할 것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1920240"/>
            <a:ext cx="6949440" cy="896112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02996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준비 상태로 바꾸기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943600" y="204825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전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377440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지금은 검토하려고 문제가 전부 보이게 해 두었다. 무작위로 나오게 바꾼다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2944368"/>
            <a:ext cx="694944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054096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VT 문제 더 짓기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943600" y="3072384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올해 안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401568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65문제인데 은행에도 65문제뿐이라 늘 같은 시험이 나간다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3968496"/>
            <a:ext cx="694944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4078224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비밀번호 옮기기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409651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올해 안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425696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지금은 프로그램 안에 들어 있어 마음먹으면 볼 수 있다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992624"/>
            <a:ext cx="694944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5102352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요원 명부 시력검사일 채우기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512064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바로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5449824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비어 있으면 시력 만료를 계산할 수 없다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7818120" y="148132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규정을 손봐야 되는 것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7818120" y="1920240"/>
            <a:ext cx="4224528" cy="1097280"/>
          </a:xfrm>
          <a:prstGeom prst="rect">
            <a:avLst/>
          </a:prstGeom>
          <a:solidFill>
            <a:srgbClr val="F7F7F7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065008" y="205740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전문시험도 컴퓨터로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8065008" y="245059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종이로 치도록 정하고 있어 규정부터 고쳐야 한다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18120" y="3154680"/>
            <a:ext cx="4224528" cy="1097280"/>
          </a:xfrm>
          <a:prstGeom prst="rect">
            <a:avLst/>
          </a:prstGeom>
          <a:solidFill>
            <a:srgbClr val="F7F7F7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065008" y="32918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실기시험과 실증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8065008" y="368503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프로그램은 필기시험만 다룬다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818120" y="4526280"/>
            <a:ext cx="4224528" cy="146304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065008" y="4663440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유지비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8065008" y="495604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 원</a:t>
            </a:r>
            <a:endParaRPr lang="en-US" sz="3600" dirty="0"/>
          </a:p>
        </p:txBody>
      </p:sp>
      <p:sp>
        <p:nvSpPr>
          <p:cNvPr id="31" name="Text 29"/>
          <p:cNvSpPr txBox="1"/>
          <p:nvPr/>
        </p:nvSpPr>
        <p:spPr>
          <a:xfrm>
            <a:off x="8065008" y="54864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GitHub Pages + 구글 시트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 다 회사가 이미 쓰는 것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566928" y="6144768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줄 — 실제 시험을 치기 전에 반드시 바꿔야 합니다.</a:t>
            </a:r>
            <a:endParaRPr lang="en-US" sz="1350" dirty="0"/>
          </a:p>
        </p:txBody>
      </p:sp>
      <p:sp>
        <p:nvSpPr>
          <p:cNvPr id="33" name="Text 31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026664" y="2679192"/>
            <a:ext cx="8311896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감사합니다.</a:t>
            </a:r>
            <a:endParaRPr lang="en-US" sz="6600" dirty="0"/>
          </a:p>
        </p:txBody>
      </p:sp>
      <p:sp>
        <p:nvSpPr>
          <p:cNvPr id="3" name="Text 1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(주)한국공업엔지니어링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사내 NDT 자격 필기시험 CBT 구축</dc:title>
  <dc:subject>PptxGenJS Presentation</dc:subject>
  <dc:creator/>
  <cp:lastModifiedBy/>
  <cp:revision>1</cp:revision>
  <dcterms:created xsi:type="dcterms:W3CDTF">2026-08-28T05:06:05Z</dcterms:created>
  <dcterms:modified xsi:type="dcterms:W3CDTF">2026-08-28T05:06:05Z</dcterms:modified>
</cp:coreProperties>
</file>