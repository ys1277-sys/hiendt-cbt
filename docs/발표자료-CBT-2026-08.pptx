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열 단계가 세 단계로 줄었습니다. 가운데 일곱 가지는 프로그램이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문항은 원본 시험지 1,110개에 259개를 더한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왼쪽이 예전, 오른쪽이 지금입니다.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굴절각이나 dB 계산이 조용히 틀리고 있었습니다. 셋 다 바로잡고 도 모드를 기본으로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사람이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과목 붙었다고 자격이 나오는 것이 아닙니다. 화면에도 그렇게 적어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만료를 사람이 기억하지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옮기지 않았으면 몰랐을 것들입니다.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검사를 사람이 아니라 프로그램이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실제 시험을 치기 전에 반드시 바꿔야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C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5740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FC4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종이로 치던 시험을</a:t>
            </a:r>
            <a:endParaRPr lang="en-US" sz="5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프로그램으로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640080" y="4892040"/>
            <a:ext cx="2926080" cy="0"/>
          </a:xfrm>
          <a:prstGeom prst="line">
            <a:avLst/>
          </a:prstGeom>
          <a:noFill/>
          <a:ln w="38100">
            <a:solidFill>
              <a:srgbClr val="0179C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5120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(주)한국공업엔지니어링      2026. 08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 치는 데 드는 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 하나를 놓고, 예전과 지금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4160520"/>
          </a:xfrm>
          <a:prstGeom prst="roundRect">
            <a:avLst>
              <a:gd name="adj" fmla="val 1319"/>
            </a:avLst>
          </a:prstGeom>
          <a:solidFill>
            <a:srgbClr val="F4F4F3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  종이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957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 문항을 고른다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249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 시험지를 편집한다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0540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 인쇄하고 복사한다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3832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 답안지를 만든다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7124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 배포하고 회수한다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40416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 한 장씩 채점한다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3708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 점수를 계산한다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70001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  성적표에 옮겨 적는다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5029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  파일철에 보관한다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3583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1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 남은 시험지를 폐기한다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55321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  10 단계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212080" cy="4160520"/>
          </a:xfrm>
          <a:prstGeom prst="roundRect">
            <a:avLst>
              <a:gd name="adj" fmla="val 1319"/>
            </a:avLst>
          </a:prstGeom>
          <a:solidFill>
            <a:srgbClr val="E8F2FA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122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 프로그램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812280" y="2450592"/>
            <a:ext cx="347472" cy="347472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12280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96912" y="24505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고른다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12280" y="3017520"/>
            <a:ext cx="347472" cy="347472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12280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296912" y="30175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화면에서 푼다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12280" y="3584448"/>
            <a:ext cx="347472" cy="347472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584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296912" y="35844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채점된다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4343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만들기 · 복사 · 채점 · 점수 계산 · 성적 정리 · 보관은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합니다. 종이가 필요하면 그때 출력합니다.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12280" y="55321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   3 단계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필기시험 전 구간을 다룹니다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889699" cy="320040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5239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10128"/>
            <a:ext cx="15239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49040"/>
            <a:ext cx="16153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95539" y="1965960"/>
            <a:ext cx="1889699" cy="320040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78419" y="2286000"/>
            <a:ext cx="15239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3078419" y="3310128"/>
            <a:ext cx="15239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032699" y="3749040"/>
            <a:ext cx="16153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 UT MT PT VT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ECT RFT TOFD PAUT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50998" y="1965960"/>
            <a:ext cx="1889699" cy="320040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33878" y="2286000"/>
            <a:ext cx="15239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333878" y="3310128"/>
            <a:ext cx="15239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288158" y="3749040"/>
            <a:ext cx="16153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179장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앱에서 바로 열람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06457" y="1965960"/>
            <a:ext cx="1889699" cy="320040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337" y="2286000"/>
            <a:ext cx="15239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589337" y="3310128"/>
            <a:ext cx="15239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543617" y="3749040"/>
            <a:ext cx="16153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6종 · E03 3종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661916" y="1965960"/>
            <a:ext cx="1889699" cy="320040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44796" y="2286000"/>
            <a:ext cx="15239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9844796" y="3310128"/>
            <a:ext cx="15239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799076" y="3749040"/>
            <a:ext cx="16153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확인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440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일반·전문, Level Ⅲ 기초·종목까지. Level Ⅲ 전문시험은 규정상 아직 종이로 시행합니다.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손이 가던 자리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가지가 사라졌습니다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457200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8745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편집·인쇄·복사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807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874520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고르면 그 자리에서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4884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대조, 사람 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77440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즉시, 실수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880360"/>
            <a:ext cx="10911535" cy="457200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80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148840" y="2880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계산기로 평균 계산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08076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2880360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규정대로 자동 계산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통보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성적표 작성·전달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383280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즉시 화면에 해설까지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10911535" cy="457200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886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보관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148840" y="38862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파일철, 찾으려면 뒤져야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3886200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이력이 쌓임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389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148840" y="4389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 적어 두고 챙김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080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537960" y="4389120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전 명단이 자동으로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92040"/>
            <a:ext cx="10911535" cy="457200"/>
          </a:xfrm>
          <a:prstGeom prst="rect">
            <a:avLst/>
          </a:prstGeom>
          <a:solidFill>
            <a:srgbClr val="F7FAFD"/>
          </a:solidFill>
          <a:ln w="12700">
            <a:solidFill>
              <a:srgbClr val="F7FAF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892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14884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감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4892040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화면에서 바로 열람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394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2148840" y="5394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챙겨 옴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08076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537960" y="5394960"/>
            <a:ext cx="4876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안에 공학용 계산기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이렇게 씁니다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설치도 로그인도 없습니다. 주소 하나면 됩니다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926275" cy="22860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5474" y="2267712"/>
            <a:ext cx="475488" cy="475488"/>
          </a:xfrm>
          <a:prstGeom prst="ellipse">
            <a:avLst/>
          </a:prstGeom>
          <a:solidFill>
            <a:srgbClr val="0179C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65474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880360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291840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고르면 그 자리에서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만들어집니다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612075" y="2926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E3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886395" y="2011680"/>
            <a:ext cx="1926275" cy="22860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789" y="2267712"/>
            <a:ext cx="475488" cy="475488"/>
          </a:xfrm>
          <a:prstGeom prst="ellipse">
            <a:avLst/>
          </a:prstGeom>
          <a:solidFill>
            <a:srgbClr val="0179C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11789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96123" y="2880360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996123" y="3291840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보기 순서가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다릅니다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858390" y="2926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E3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132710" y="2011680"/>
            <a:ext cx="1926275" cy="22860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8104" y="2267712"/>
            <a:ext cx="475488" cy="475488"/>
          </a:xfrm>
          <a:prstGeom prst="ellipse">
            <a:avLst/>
          </a:prstGeom>
          <a:solidFill>
            <a:srgbClr val="0179C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58104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242438" y="2880360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42438" y="3291840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안에서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열고 닫습니다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4705" y="2926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E3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379025" y="2011680"/>
            <a:ext cx="1926275" cy="22860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04419" y="2267712"/>
            <a:ext cx="475488" cy="475488"/>
          </a:xfrm>
          <a:prstGeom prst="ellipse">
            <a:avLst/>
          </a:prstGeom>
          <a:solidFill>
            <a:srgbClr val="0179C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04419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88753" y="2880360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88753" y="3291840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채점됩니다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351020" y="2926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E3E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625340" y="2011680"/>
            <a:ext cx="1926275" cy="2286000"/>
          </a:xfrm>
          <a:prstGeom prst="roundRect">
            <a:avLst>
              <a:gd name="adj" fmla="val 284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50734" y="2267712"/>
            <a:ext cx="475488" cy="475488"/>
          </a:xfrm>
          <a:prstGeom prst="ellipse">
            <a:avLst/>
          </a:prstGeom>
          <a:solidFill>
            <a:srgbClr val="0179C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350734" y="2267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35068" y="2880360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결과·해설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735068" y="3291840"/>
            <a:ext cx="17068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봅니다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572000"/>
            <a:ext cx="10911535" cy="1417320"/>
          </a:xfrm>
          <a:prstGeom prst="roundRect">
            <a:avLst>
              <a:gd name="adj" fmla="val 3871"/>
            </a:avLst>
          </a:prstGeom>
          <a:solidFill>
            <a:srgbClr val="E8F2FA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60120" y="4736592"/>
            <a:ext cx="10271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— 조용히 틀리던 것을 고쳤습니다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60120" y="512064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sin(30)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이 0.5가 아니라 −0.988 — 라디안 기준이었습니다.     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가 자연로그였습니다 — dB 계산이 전부 틀렸습니다.     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은 누르면 오류였습니다.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바퀴가 이렇게 돕니다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손대는 자리는 첫 칸과 마지막 칸뿐입니다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381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94560"/>
            <a:ext cx="384048" cy="384048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219456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1576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에서 문항·출제 수·절차서를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644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082186" y="260604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83938" y="1965960"/>
            <a:ext cx="342381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2538" y="2194560"/>
            <a:ext cx="384048" cy="384048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12538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97170" y="219456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612538" y="271576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돌리고 GitHub 에 올립니다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612538" y="32644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826045" y="260604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27797" y="1965960"/>
            <a:ext cx="342381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56397" y="2194560"/>
            <a:ext cx="384048" cy="384048"/>
          </a:xfrm>
          <a:prstGeom prst="ellipse">
            <a:avLst/>
          </a:prstGeom>
          <a:solidFill>
            <a:srgbClr val="1A7F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56397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841029" y="219456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배포된다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356397" y="271576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이 스스로 빌드해 웹에  2~3분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56397" y="32644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931920"/>
            <a:ext cx="342381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4160520"/>
            <a:ext cx="384048" cy="384048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4160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접속해 푼다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468172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주소로 들어와 시험을 칩니다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2303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082186" y="457200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3938" y="3931920"/>
            <a:ext cx="342381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12538" y="4160520"/>
            <a:ext cx="384048" cy="384048"/>
          </a:xfrm>
          <a:prstGeom prst="ellipse">
            <a:avLst/>
          </a:prstGeom>
          <a:solidFill>
            <a:srgbClr val="1A7F4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612538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097170" y="4160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612538" y="468172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시트에 한 줄이 붙습니다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612538" y="52303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826045" y="4572000"/>
            <a:ext cx="28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127797" y="3931920"/>
            <a:ext cx="342381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56397" y="4160520"/>
            <a:ext cx="384048" cy="384048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56397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8841029" y="4160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681728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모드에서 결과와 이력을 봅니다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356397" y="52303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두지 않았습니다. 화면은 GitHub Pages, 기록은 구글 시트가 맡습니다 — 둘 다 회사가 이미 쓰는 것이라 유지비가 들지 않습니다.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문턱은 두 개입니다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HIE-QP-E01 7.4.4 · 7.4.5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시험 — 과락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21208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시험 70% 이상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10911535" cy="457200"/>
          </a:xfrm>
          <a:prstGeom prst="rect">
            <a:avLst/>
          </a:prstGeom>
          <a:solidFill>
            <a:srgbClr val="F1F6FB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560320"/>
            <a:ext cx="7638075" cy="457200"/>
          </a:xfrm>
          <a:prstGeom prst="rect">
            <a:avLst/>
          </a:prstGeom>
          <a:solidFill>
            <a:srgbClr val="0179CF">
              <a:alpha val="18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64439" y="2450592"/>
            <a:ext cx="27432" cy="676656"/>
          </a:xfrm>
          <a:prstGeom prst="rect">
            <a:avLst/>
          </a:prstGeom>
          <a:solidFill>
            <a:srgbClr val="0179CF"/>
          </a:solidFill>
          <a:ln w="12700">
            <a:solidFill>
              <a:srgbClr val="0179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20955" y="3145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474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— 자격 취득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과목 단순 평균 80% 이상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10911535" cy="457200"/>
          </a:xfrm>
          <a:prstGeom prst="rect">
            <a:avLst/>
          </a:prstGeom>
          <a:solidFill>
            <a:srgbClr val="F1F6FB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931920"/>
            <a:ext cx="8729228" cy="457200"/>
          </a:xfrm>
          <a:prstGeom prst="rect">
            <a:avLst/>
          </a:prstGeom>
          <a:solidFill>
            <a:srgbClr val="0179CF">
              <a:alpha val="18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5592" y="3822192"/>
            <a:ext cx="27432" cy="676656"/>
          </a:xfrm>
          <a:prstGeom prst="rect">
            <a:avLst/>
          </a:prstGeom>
          <a:solidFill>
            <a:srgbClr val="0179CF"/>
          </a:solidFill>
          <a:ln w="12700">
            <a:solidFill>
              <a:srgbClr val="0179C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12108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5272888" cy="1097280"/>
          </a:xfrm>
          <a:prstGeom prst="roundRect">
            <a:avLst>
              <a:gd name="adj" fmla="val 5000"/>
            </a:avLst>
          </a:prstGeom>
          <a:solidFill>
            <a:srgbClr val="E8F2FA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513832"/>
            <a:ext cx="472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불합격하면 30일이 지나야 다시 칠 수 있습니다.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훈련 증거를 내면 앞당길 수 있습니다.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78728" y="5029200"/>
            <a:ext cx="5272888" cy="1097280"/>
          </a:xfrm>
          <a:prstGeom prst="roundRect">
            <a:avLst>
              <a:gd name="adj" fmla="val 5000"/>
            </a:avLst>
          </a:prstGeom>
          <a:solidFill>
            <a:srgbClr val="FBF0E2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51937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69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판정하지 않는 것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5513832"/>
            <a:ext cx="472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필기시험만 판정합니다. 실기시험과 Level Ⅲ 전문시험은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들어오지 않으며, 빠진 것을 화면에 적어 보여줍니다.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자격은 프로그램이 챙깁니다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기록을 사람 단위로 묶어 만료까지 봅니다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402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주기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Ⅰ·Ⅱ 3년 · Level Ⅲ 5년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만료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730752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6.1.1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73498" y="22402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검사일로부터 1년 뒤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월의 마지막 날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730752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6.1.2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32597" y="22402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통보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전까지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본인과 소속 부서에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730752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8F2FA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6177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뽑는 것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E03-01  자격증 발급대장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9종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5440680"/>
            <a:ext cx="10271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계산은 116건의 시험값으로 확인합니다 — 윤년, 말일, 월 넘김까지.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그대로 옮겼습니다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정한 숫자가 하나도 없습니다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72888" cy="73152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81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8728" y="2011680"/>
            <a:ext cx="5272888" cy="73152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7328" y="21031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07328" y="2377440"/>
            <a:ext cx="481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5272888" cy="73152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9718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246120"/>
            <a:ext cx="481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8728" y="2880360"/>
            <a:ext cx="5272888" cy="73152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29718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3246120"/>
            <a:ext cx="481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5272888" cy="73152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404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114800"/>
            <a:ext cx="481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ASNT·ISO 9712 소지자 시험 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78728" y="3749040"/>
            <a:ext cx="5272888" cy="73152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7328" y="384048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79C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07328" y="4114800"/>
            <a:ext cx="4815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3년, Ⅲ 5년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89204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0B2C46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5074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값까지 대조합니다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5413248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BD5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한글 원본을 읽어 규칙 문서와 프로그램이 같은 값을 쓰는지 기계가 확인합니다.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BD5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잣대 19가지 + 표 3 의 12종목. E01 조항 32개를 모두 받아 적었습니다.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옮기다 찾아낸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한 줄씩 다시 읽어야 했습니다. 그러다 드러났습니다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728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9456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규정보다 적게 나가던 시험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44288" y="222199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9525">
            <a:solidFill>
              <a:srgbClr val="1A7F4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44288" y="222199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79192"/>
            <a:ext cx="472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TOFD·PAUT 전문시험이 5문항 적게 나갔습니다.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8728" y="1965960"/>
            <a:ext cx="52728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19456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104문항짜리 Level Ⅲ 시험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682935" y="222199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9525">
            <a:solidFill>
              <a:srgbClr val="1A7F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682935" y="222199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679192"/>
            <a:ext cx="472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전체가 나가 시험시간 2시간에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문항당 69초였습니다.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2728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16052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44288" y="418795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9525">
            <a:solidFill>
              <a:srgbClr val="1A7F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4288" y="418795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2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은행이 규정 출제 수와 같아 뽑을 것이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없었습니다.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931920"/>
            <a:ext cx="5272888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417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오류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0682935" y="418795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E6F4EC"/>
          </a:solidFill>
          <a:ln w="9525">
            <a:solidFill>
              <a:srgbClr val="1A7F4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82935" y="418795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53048" y="4645152"/>
            <a:ext cx="4724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· 잘못된 정답 4건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 1건 · 절차서 번호 오기 3건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1,110개에서 1,369개로 늘려 회차마다 다른 시험지가 나가게 했습니다.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스스로 검사합니다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눈으로 보는 대신 검사를 프로그램으로 만들었습니다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22144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58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5856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15768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36544" y="2057400"/>
            <a:ext cx="2522144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65144" y="2258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03472" y="225856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2715768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2057400"/>
            <a:ext cx="2522144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258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799936" y="225856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2715768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29471" y="2057400"/>
            <a:ext cx="2522144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8071" y="2258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596399" y="225856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이력·만료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2715768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116건의 시험값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2522144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38587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85876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315968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원문과 값까지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436544" y="3657600"/>
            <a:ext cx="2522144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65144" y="38587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003472" y="385876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철자·받침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665144" y="4315968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3657600"/>
            <a:ext cx="2522144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1608" y="38587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799936" y="385876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461608" y="4315968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029471" y="3657600"/>
            <a:ext cx="2522144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58071" y="38587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F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596399" y="3858768"/>
            <a:ext cx="1744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258071" y="4315968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5F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15가지가 모두 통과합니다. 위는 그 가운데 여덟 가지입니다.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남은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솔직하게 말씀드립니다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911535" cy="868680"/>
          </a:xfrm>
          <a:prstGeom prst="rect">
            <a:avLst/>
          </a:prstGeom>
          <a:solidFill>
            <a:srgbClr val="FBF0E2"/>
          </a:solidFill>
          <a:ln w="9525">
            <a:solidFill>
              <a:srgbClr val="B4690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49424"/>
            <a:ext cx="384048" cy="384048"/>
          </a:xfrm>
          <a:prstGeom prst="ellipse">
            <a:avLst/>
          </a:prstGeom>
          <a:solidFill>
            <a:srgbClr val="B469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305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모드를 시행 모드로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69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 전 필수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631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은행 문항이 전부 보이게 해 두었습니다.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시험 전에 무작위 출제로 바꿉니다.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10911535" cy="86868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255264"/>
            <a:ext cx="384048" cy="384048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1363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여유 문항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474720"/>
            <a:ext cx="9631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65문항에 은행도 65문항이라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문항이 나갑니다.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10911535" cy="86868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261104"/>
            <a:ext cx="384048" cy="384048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1422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80560"/>
            <a:ext cx="9631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시행하도록 정하고 있습니다.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규정부터 고쳐야 합니다.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29200"/>
            <a:ext cx="10911535" cy="868680"/>
          </a:xfrm>
          <a:prstGeom prst="rect">
            <a:avLst/>
          </a:prstGeom>
          <a:solidFill>
            <a:srgbClr val="F7FAFD"/>
          </a:solidFill>
          <a:ln w="9525">
            <a:solidFill>
              <a:srgbClr val="D6E3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5266944"/>
            <a:ext cx="384048" cy="384048"/>
          </a:xfrm>
          <a:prstGeom prst="ellipse">
            <a:avLst/>
          </a:prstGeom>
          <a:solidFill>
            <a:srgbClr val="075F9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5148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486400"/>
            <a:ext cx="9631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화면 쪽에 들어 있어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마음먹으면 들여다볼 수 있습니다.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실증은 이 시스템이 다루지 않습니다. 필기 결과만으로 합격 처리하지 않도록 화면에 밝혀 적습니다.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100297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C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95399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4434840"/>
            <a:ext cx="2926080" cy="0"/>
          </a:xfrm>
          <a:prstGeom prst="line">
            <a:avLst/>
          </a:prstGeom>
          <a:noFill/>
          <a:ln w="38100">
            <a:solidFill>
              <a:srgbClr val="0179C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4663440"/>
            <a:ext cx="9539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DB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어느 조항에서 왔는지 적혀 있습니다.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DB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 그 자리를 찾아 고치면 됩니다.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</dc:title>
  <dc:subject>PptxGenJS Presentation</dc:subject>
  <dc:creator>(주)한국공업엔지니어링</dc:creator>
  <cp:lastModifiedBy>(주)한국공업엔지니어링</cp:lastModifiedBy>
  <cp:revision>1</cp:revision>
  <dcterms:created xsi:type="dcterms:W3CDTF">2026-08-28T04:02:10Z</dcterms:created>
  <dcterms:modified xsi:type="dcterms:W3CDTF">2026-08-28T04:02:10Z</dcterms:modified>
</cp:coreProperties>
</file>